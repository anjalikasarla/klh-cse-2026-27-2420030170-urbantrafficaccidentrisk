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64" r:id="rId4"/>
    <p:sldId id="273" r:id="rId5"/>
    <p:sldId id="258" r:id="rId6"/>
    <p:sldId id="276" r:id="rId7"/>
    <p:sldId id="275" r:id="rId8"/>
    <p:sldId id="261" r:id="rId9"/>
    <p:sldId id="265" r:id="rId10"/>
    <p:sldId id="260" r:id="rId11"/>
    <p:sldId id="272" r:id="rId12"/>
    <p:sldId id="274" r:id="rId13"/>
    <p:sldId id="266" r:id="rId14"/>
    <p:sldId id="277" r:id="rId15"/>
    <p:sldId id="278" r:id="rId16"/>
    <p:sldId id="279" r:id="rId17"/>
    <p:sldId id="280" r:id="rId18"/>
    <p:sldId id="26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24BD777-37A9-43A8-B010-53FE3852698E}">
          <p14:sldIdLst>
            <p14:sldId id="256"/>
            <p14:sldId id="257"/>
            <p14:sldId id="264"/>
          </p14:sldIdLst>
        </p14:section>
        <p14:section name="Untitled Section" id="{7307711C-9608-4191-9EEF-59EA12CA526A}">
          <p14:sldIdLst>
            <p14:sldId id="273"/>
            <p14:sldId id="258"/>
            <p14:sldId id="276"/>
            <p14:sldId id="275"/>
            <p14:sldId id="261"/>
            <p14:sldId id="265"/>
            <p14:sldId id="260"/>
            <p14:sldId id="272"/>
            <p14:sldId id="274"/>
            <p14:sldId id="266"/>
            <p14:sldId id="277"/>
            <p14:sldId id="278"/>
            <p14:sldId id="279"/>
            <p14:sldId id="280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FCB5F0-374F-448D-B2F9-AF839DA9BA88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1EA4E-6A2E-4FF1-9C54-2A480DBB8F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8239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31714" y="1554481"/>
            <a:ext cx="9144000" cy="2316702"/>
          </a:xfrm>
        </p:spPr>
        <p:txBody>
          <a:bodyPr/>
          <a:lstStyle/>
          <a:p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IN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APPLIED MACHINE LEARNING FOR TEXT ANALYSIS</a:t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24ALT3101)</a:t>
            </a:r>
            <a:br>
              <a:rPr lang="en-IN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IN" sz="3200" b="1" dirty="0">
                <a:solidFill>
                  <a:schemeClr val="accent1"/>
                </a:solidFill>
                <a:latin typeface="Calisto MT" panose="02040603050505030304" pitchFamily="18" charset="0"/>
              </a:rPr>
              <a:t>Machine Learning Framework for Urban Traffic Accident Risk Prediction</a:t>
            </a:r>
            <a:br>
              <a:rPr lang="en-IN" sz="3200" b="1" dirty="0">
                <a:solidFill>
                  <a:schemeClr val="accent1"/>
                </a:solidFill>
                <a:latin typeface="Calisto MT" panose="02040603050505030304" pitchFamily="18" charset="0"/>
              </a:rPr>
            </a:br>
            <a:endParaRPr lang="en-US" sz="3000" b="1" dirty="0">
              <a:solidFill>
                <a:schemeClr val="accent1"/>
              </a:solidFill>
              <a:latin typeface="Calisto MT" panose="0204060305050503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12569" y="3729916"/>
            <a:ext cx="7324531" cy="1573603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Anjali Kasarla  -  2420030170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Vinusha Muppala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2420030212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Lasya Geethika  -  2420030678</a:t>
            </a:r>
            <a:br>
              <a:rPr lang="en-US" dirty="0">
                <a:solidFill>
                  <a:srgbClr val="0070C0"/>
                </a:solidFill>
              </a:rPr>
            </a:br>
            <a:endParaRPr lang="en-US" sz="1800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22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Under the Esteemed Guidance of:</a:t>
            </a:r>
            <a:endParaRPr lang="en-IN" sz="22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 . KATANGURI SWANTHANA (CSE)</a:t>
            </a:r>
            <a:endParaRPr lang="en-US" sz="2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736109" y="619836"/>
            <a:ext cx="5130572" cy="66018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 &amp; Creativity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Plan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Architecture/Methodology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 &amp; Technology Stack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B634D0-872B-2BC6-401F-C0B371F42EFC}"/>
              </a:ext>
            </a:extLst>
          </p:cNvPr>
          <p:cNvSpPr txBox="1"/>
          <p:nvPr/>
        </p:nvSpPr>
        <p:spPr>
          <a:xfrm>
            <a:off x="1107440" y="1304875"/>
            <a:ext cx="94081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Machine Learning Framework for Urban Traffic Accident Risk Prediction</a:t>
            </a:r>
          </a:p>
          <a:p>
            <a:pPr>
              <a:buNone/>
            </a:pPr>
            <a:endParaRPr lang="en-IN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1A6F52-13AC-3A55-828E-A1F3FAA1ECE3}"/>
              </a:ext>
            </a:extLst>
          </p:cNvPr>
          <p:cNvSpPr txBox="1"/>
          <p:nvPr/>
        </p:nvSpPr>
        <p:spPr>
          <a:xfrm>
            <a:off x="833120" y="1981983"/>
            <a:ext cx="947928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Urban traffic accidents are caused by various factors such as </a:t>
            </a:r>
            <a:r>
              <a:rPr lang="en-IN" sz="2000" b="1" dirty="0"/>
              <a:t>weather, road conditions, traffic density, time, and driver-related causes</a:t>
            </a:r>
            <a:r>
              <a:rPr lang="en-IN" sz="2000" dirty="0"/>
              <a:t>. Traditional systems mainly respond after accidents occur and have limited ability to predict accident risk in advance.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The proposed system uses </a:t>
            </a:r>
            <a:r>
              <a:rPr lang="en-IN" sz="2000" b="1" dirty="0"/>
              <a:t>historical accident data and machine learning algorithms</a:t>
            </a:r>
            <a:r>
              <a:rPr lang="en-IN" sz="2000" dirty="0"/>
              <a:t> such as Logistic Regression, Decision Tree, and Random Forest to identify accident patterns and classify situations as </a:t>
            </a:r>
            <a:r>
              <a:rPr lang="en-IN" sz="2000" b="1" dirty="0"/>
              <a:t>Low, Medium, or High Risk</a:t>
            </a:r>
            <a:r>
              <a:rPr lang="en-IN" sz="2000" dirty="0"/>
              <a:t>. NLP is used to </a:t>
            </a:r>
            <a:r>
              <a:rPr lang="en-IN" sz="2000" dirty="0" err="1"/>
              <a:t>analyze</a:t>
            </a:r>
            <a:r>
              <a:rPr lang="en-IN" sz="2000" dirty="0"/>
              <a:t> accident descriptions, while </a:t>
            </a:r>
            <a:r>
              <a:rPr lang="en-IN" sz="2000" b="1" dirty="0"/>
              <a:t>SHAP/LIME</a:t>
            </a:r>
            <a:r>
              <a:rPr lang="en-IN" sz="2000" dirty="0"/>
              <a:t> explains the reasons behind predictions.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The model is evaluated using </a:t>
            </a:r>
            <a:r>
              <a:rPr lang="en-IN" sz="2000" b="1" dirty="0"/>
              <a:t>Accuracy, Precision, Recall, F1-score, ROC-AUC, and Confusion Matrix</a:t>
            </a:r>
            <a:r>
              <a:rPr lang="en-IN" sz="2000" dirty="0"/>
              <a:t> and deployed through a </a:t>
            </a:r>
            <a:r>
              <a:rPr lang="en-IN" sz="2000" b="1" dirty="0"/>
              <a:t>web dashboard</a:t>
            </a:r>
            <a:r>
              <a:rPr lang="en-IN" sz="2000" dirty="0"/>
              <a:t> to support proactive traffic safety decisions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DD7F1-012C-ECD9-7F3F-B57EDD02E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0F49506-52A9-FA4D-7498-F34794D7DA63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435D37-165E-C1D5-FA0B-29B928F2B5EF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974733-29BE-42B5-CFA7-B4C0BF2DC24F}"/>
              </a:ext>
            </a:extLst>
          </p:cNvPr>
          <p:cNvSpPr txBox="1"/>
          <p:nvPr/>
        </p:nvSpPr>
        <p:spPr>
          <a:xfrm>
            <a:off x="1036320" y="879822"/>
            <a:ext cx="9916160" cy="5052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Objectives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To develop a </a:t>
            </a:r>
            <a:r>
              <a:rPr lang="en-IN" sz="2000" b="1" dirty="0"/>
              <a:t>Machine Learning framework</a:t>
            </a:r>
            <a:r>
              <a:rPr lang="en-IN" sz="2000" dirty="0"/>
              <a:t> for predicting urban traffic accident risk.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To collect and preprocess </a:t>
            </a:r>
            <a:r>
              <a:rPr lang="en-IN" sz="2000" b="1" dirty="0"/>
              <a:t>traffic accident, weather, road, and traffic-related data</a:t>
            </a:r>
            <a:r>
              <a:rPr lang="en-IN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To identify the major </a:t>
            </a:r>
            <a:r>
              <a:rPr lang="en-IN" sz="2000" b="1" dirty="0"/>
              <a:t>factors contributing to traffic accidents</a:t>
            </a:r>
            <a:r>
              <a:rPr lang="en-IN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To apply machine learning algorithms such as </a:t>
            </a:r>
            <a:r>
              <a:rPr lang="en-IN" sz="2000" b="1" dirty="0"/>
              <a:t>Logistic Regression, Decision Tree, Random Forest, SVM </a:t>
            </a:r>
            <a:r>
              <a:rPr lang="en-IN" sz="2000" dirty="0"/>
              <a:t>for risk prediction.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To classify accident situations into </a:t>
            </a:r>
            <a:r>
              <a:rPr lang="en-IN" sz="2000" b="1" dirty="0"/>
              <a:t>Low, Medium, and High Risk</a:t>
            </a:r>
            <a:r>
              <a:rPr lang="en-IN" sz="2000" dirty="0"/>
              <a:t> categories.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To evaluate and compare model performance using </a:t>
            </a:r>
            <a:r>
              <a:rPr lang="en-IN" sz="2000" b="1" dirty="0"/>
              <a:t>Accuracy, Precision, Recall, F1-Score, ROC-AUC, and Confusion Matrix</a:t>
            </a:r>
            <a:r>
              <a:rPr lang="en-IN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To use </a:t>
            </a:r>
            <a:r>
              <a:rPr lang="en-IN" sz="2000" b="1" dirty="0"/>
              <a:t>Explainable AI techniques such as SHAP/LIME</a:t>
            </a:r>
            <a:r>
              <a:rPr lang="en-IN" sz="2000" dirty="0"/>
              <a:t> to understand the factors influencing predictions.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To develop a </a:t>
            </a:r>
            <a:r>
              <a:rPr lang="en-IN" sz="2000" b="1" dirty="0"/>
              <a:t>web-based dashboard</a:t>
            </a:r>
            <a:r>
              <a:rPr lang="en-IN" sz="2000" dirty="0"/>
              <a:t> for accident risk prediction and visualization.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To provide an intelligent system that can support </a:t>
            </a:r>
            <a:r>
              <a:rPr lang="en-IN" sz="2000" b="1" dirty="0"/>
              <a:t>proactive traffic safety and decision-making</a:t>
            </a:r>
            <a:r>
              <a:rPr lang="en-IN" sz="2000" dirty="0"/>
              <a:t>.</a:t>
            </a:r>
          </a:p>
          <a:p>
            <a:pPr lvl="0">
              <a:lnSpc>
                <a:spcPct val="150000"/>
              </a:lnSpc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0483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403F3F8-3761-F9C5-E85A-8F6CE44F3B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5582727"/>
              </p:ext>
            </p:extLst>
          </p:nvPr>
        </p:nvGraphicFramePr>
        <p:xfrm>
          <a:off x="660934" y="1094868"/>
          <a:ext cx="10822005" cy="4971998"/>
        </p:xfrm>
        <a:graphic>
          <a:graphicData uri="http://schemas.openxmlformats.org/drawingml/2006/table">
            <a:tbl>
              <a:tblPr/>
              <a:tblGrid>
                <a:gridCol w="465222">
                  <a:extLst>
                    <a:ext uri="{9D8B030D-6E8A-4147-A177-3AD203B41FA5}">
                      <a16:colId xmlns:a16="http://schemas.microsoft.com/office/drawing/2014/main" val="3382050226"/>
                    </a:ext>
                  </a:extLst>
                </a:gridCol>
                <a:gridCol w="1751798">
                  <a:extLst>
                    <a:ext uri="{9D8B030D-6E8A-4147-A177-3AD203B41FA5}">
                      <a16:colId xmlns:a16="http://schemas.microsoft.com/office/drawing/2014/main" val="1510639356"/>
                    </a:ext>
                  </a:extLst>
                </a:gridCol>
                <a:gridCol w="1732547">
                  <a:extLst>
                    <a:ext uri="{9D8B030D-6E8A-4147-A177-3AD203B41FA5}">
                      <a16:colId xmlns:a16="http://schemas.microsoft.com/office/drawing/2014/main" val="1523445327"/>
                    </a:ext>
                  </a:extLst>
                </a:gridCol>
                <a:gridCol w="1857676">
                  <a:extLst>
                    <a:ext uri="{9D8B030D-6E8A-4147-A177-3AD203B41FA5}">
                      <a16:colId xmlns:a16="http://schemas.microsoft.com/office/drawing/2014/main" val="3951363308"/>
                    </a:ext>
                  </a:extLst>
                </a:gridCol>
                <a:gridCol w="2435191">
                  <a:extLst>
                    <a:ext uri="{9D8B030D-6E8A-4147-A177-3AD203B41FA5}">
                      <a16:colId xmlns:a16="http://schemas.microsoft.com/office/drawing/2014/main" val="4114807455"/>
                    </a:ext>
                  </a:extLst>
                </a:gridCol>
                <a:gridCol w="2579571">
                  <a:extLst>
                    <a:ext uri="{9D8B030D-6E8A-4147-A177-3AD203B41FA5}">
                      <a16:colId xmlns:a16="http://schemas.microsoft.com/office/drawing/2014/main" val="2323952638"/>
                    </a:ext>
                  </a:extLst>
                </a:gridCol>
              </a:tblGrid>
              <a:tr h="5991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No.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i="1" dirty="0"/>
                        <a:t>Research Paper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i="1" dirty="0"/>
                        <a:t>Model/Algorithm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i="1" dirty="0"/>
                        <a:t>Dataset Used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i="1" dirty="0"/>
                        <a:t>Pros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i="1" dirty="0"/>
                        <a:t>Cons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6667323"/>
                  </a:ext>
                </a:extLst>
              </a:tr>
              <a:tr h="4727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1</a:t>
                      </a:r>
                      <a:endParaRPr lang="en-IN" sz="1600" dirty="0"/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Citywide Short-Term Crash Risk Prediction – Bao et al. (2019)</a:t>
                      </a:r>
                      <a:endParaRPr lang="en-IN" sz="1400" dirty="0"/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STCL-Net, CNN, LSTM, ConvLSTM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NYC crash + taxi + road + weather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Uses </a:t>
                      </a:r>
                      <a:r>
                        <a:rPr lang="en-IN" sz="1400" b="1"/>
                        <a:t>multiple data sources</a:t>
                      </a:r>
                      <a:r>
                        <a:rPr lang="en-IN" sz="1400"/>
                        <a:t>; captures spatial and temporal patterns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Tested mainly in </a:t>
                      </a:r>
                      <a:r>
                        <a:rPr lang="en-IN" sz="1400" b="1"/>
                        <a:t>one city</a:t>
                      </a:r>
                      <a:r>
                        <a:rPr lang="en-IN" sz="1400"/>
                        <a:t>; performance decreases at finer resolutions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6789742"/>
                  </a:ext>
                </a:extLst>
              </a:tr>
              <a:tr h="5607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2</a:t>
                      </a:r>
                      <a:endParaRPr lang="en-IN" sz="1600" dirty="0"/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Real-Time Crash Risk Prediction using LSTM-RNN – Yuan et al. (2019)</a:t>
                      </a:r>
                      <a:endParaRPr lang="en-IN" sz="1400" dirty="0"/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LSTM-RNN, SMOTE, Conditional Logistic Model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Traffic detector + crash data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Good for </a:t>
                      </a:r>
                      <a:r>
                        <a:rPr lang="en-IN" sz="1400" b="1"/>
                        <a:t>real-time prediction</a:t>
                      </a:r>
                      <a:r>
                        <a:rPr lang="en-IN" sz="1400"/>
                        <a:t>; handles imbalanced crash data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Requires </a:t>
                      </a:r>
                      <a:r>
                        <a:rPr lang="en-IN" sz="1400" b="1"/>
                        <a:t>traffic detector infrastructure</a:t>
                      </a:r>
                      <a:r>
                        <a:rPr lang="en-IN" sz="1400"/>
                        <a:t>; limited explainability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536062"/>
                  </a:ext>
                </a:extLst>
              </a:tr>
              <a:tr h="477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3</a:t>
                      </a:r>
                      <a:endParaRPr lang="en-IN" sz="1600" dirty="0"/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ML and DL Methods for Real-Time Crash Prediction – Theofilatos et al. (2019)</a:t>
                      </a:r>
                      <a:endParaRPr lang="en-IN" sz="1400"/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KNN, NB, DT, RF, SVM, NN, DL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Greece traffic + weather + crash data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Compares many ML/DL models</a:t>
                      </a:r>
                      <a:endParaRPr lang="en-IN" sz="1400"/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Dataset limited to </a:t>
                      </a:r>
                      <a:r>
                        <a:rPr lang="en-IN" sz="1400" b="1"/>
                        <a:t>one tollway</a:t>
                      </a:r>
                      <a:r>
                        <a:rPr lang="en-IN" sz="1400"/>
                        <a:t>; crash prediction remains difficult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6509604"/>
                  </a:ext>
                </a:extLst>
              </a:tr>
              <a:tr h="477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4</a:t>
                      </a:r>
                      <a:endParaRPr lang="en-IN" sz="1600" dirty="0"/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Real-Time Crash Prediction in Urban Expressway – Basso et al. (2018)</a:t>
                      </a:r>
                      <a:endParaRPr lang="en-IN" sz="1400"/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RF, SVM, Logistic Regression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Chile AVI traffic + crash data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Uses </a:t>
                      </a:r>
                      <a:r>
                        <a:rPr lang="en-IN" sz="1400" b="1"/>
                        <a:t>RF, SVM and LR</a:t>
                      </a:r>
                      <a:r>
                        <a:rPr lang="en-IN" sz="1400"/>
                        <a:t>; suitable for real-time prediction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Requires </a:t>
                      </a:r>
                      <a:r>
                        <a:rPr lang="en-IN" sz="1400" b="1"/>
                        <a:t>specialized AVI infrastructure</a:t>
                      </a:r>
                      <a:r>
                        <a:rPr lang="en-IN" sz="1400"/>
                        <a:t>; high false alarms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9091627"/>
                  </a:ext>
                </a:extLst>
              </a:tr>
              <a:tr h="5533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5</a:t>
                      </a:r>
                      <a:endParaRPr lang="en-IN" sz="1600" dirty="0"/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Highway Crash Detection and Risk Estimation – Huang et al. (2020)</a:t>
                      </a:r>
                      <a:endParaRPr lang="en-IN" sz="1400" dirty="0"/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Deep Learning, SVM, Shallow ML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Iowa speed + volume + occupancy + crashes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Uses detailed </a:t>
                      </a:r>
                      <a:r>
                        <a:rPr lang="en-IN" sz="1400" b="1" dirty="0"/>
                        <a:t>traffic conditions</a:t>
                      </a:r>
                      <a:r>
                        <a:rPr lang="en-IN" sz="1400" dirty="0"/>
                        <a:t> for risk estimation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Requires </a:t>
                      </a:r>
                      <a:r>
                        <a:rPr lang="en-IN" sz="1400" b="1" dirty="0"/>
                        <a:t>roadside radar sensors</a:t>
                      </a:r>
                      <a:r>
                        <a:rPr lang="en-IN" sz="1400" dirty="0"/>
                        <a:t>; prediction becomes harder farther before crashes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960559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4FD352D-E9D4-4FC4-EC26-473361EA68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2300648"/>
              </p:ext>
            </p:extLst>
          </p:nvPr>
        </p:nvGraphicFramePr>
        <p:xfrm>
          <a:off x="955575" y="1003428"/>
          <a:ext cx="10078186" cy="4851144"/>
        </p:xfrm>
        <a:graphic>
          <a:graphicData uri="http://schemas.openxmlformats.org/drawingml/2006/table">
            <a:tbl>
              <a:tblPr/>
              <a:tblGrid>
                <a:gridCol w="94676">
                  <a:extLst>
                    <a:ext uri="{9D8B030D-6E8A-4147-A177-3AD203B41FA5}">
                      <a16:colId xmlns:a16="http://schemas.microsoft.com/office/drawing/2014/main" val="4204067424"/>
                    </a:ext>
                  </a:extLst>
                </a:gridCol>
                <a:gridCol w="2574371">
                  <a:extLst>
                    <a:ext uri="{9D8B030D-6E8A-4147-A177-3AD203B41FA5}">
                      <a16:colId xmlns:a16="http://schemas.microsoft.com/office/drawing/2014/main" val="545620053"/>
                    </a:ext>
                  </a:extLst>
                </a:gridCol>
                <a:gridCol w="1306703">
                  <a:extLst>
                    <a:ext uri="{9D8B030D-6E8A-4147-A177-3AD203B41FA5}">
                      <a16:colId xmlns:a16="http://schemas.microsoft.com/office/drawing/2014/main" val="1071015052"/>
                    </a:ext>
                  </a:extLst>
                </a:gridCol>
                <a:gridCol w="1185463">
                  <a:extLst>
                    <a:ext uri="{9D8B030D-6E8A-4147-A177-3AD203B41FA5}">
                      <a16:colId xmlns:a16="http://schemas.microsoft.com/office/drawing/2014/main" val="3270369496"/>
                    </a:ext>
                  </a:extLst>
                </a:gridCol>
                <a:gridCol w="2263155">
                  <a:extLst>
                    <a:ext uri="{9D8B030D-6E8A-4147-A177-3AD203B41FA5}">
                      <a16:colId xmlns:a16="http://schemas.microsoft.com/office/drawing/2014/main" val="4005191563"/>
                    </a:ext>
                  </a:extLst>
                </a:gridCol>
                <a:gridCol w="2653818">
                  <a:extLst>
                    <a:ext uri="{9D8B030D-6E8A-4147-A177-3AD203B41FA5}">
                      <a16:colId xmlns:a16="http://schemas.microsoft.com/office/drawing/2014/main" val="1223876851"/>
                    </a:ext>
                  </a:extLst>
                </a:gridCol>
              </a:tblGrid>
              <a:tr h="1478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No.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Research Paper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Model / Algorithm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Dataset Used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Pros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Cons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4072901"/>
                  </a:ext>
                </a:extLst>
              </a:tr>
              <a:tr h="4013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400" b="1" dirty="0"/>
                        <a:t>6</a:t>
                      </a:r>
                      <a:endParaRPr lang="en-IN" sz="400" dirty="0"/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Freeway Crash Risk Prediction using Probe Vehicle Data – Zhang et al. (2022)</a:t>
                      </a:r>
                      <a:endParaRPr lang="en-IN" sz="1600" dirty="0"/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RF, SVM, XGBoost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HERE probe-vehicle + crash data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Uses </a:t>
                      </a:r>
                      <a:r>
                        <a:rPr lang="en-IN" sz="1600" b="1"/>
                        <a:t>crowdsourced vehicle data</a:t>
                      </a:r>
                      <a:r>
                        <a:rPr lang="en-IN" sz="1600"/>
                        <a:t>; useful for real-time prediction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Probe vehicles may not represent all vehicles; limited traffic variables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8645118"/>
                  </a:ext>
                </a:extLst>
              </a:tr>
              <a:tr h="4013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400" b="1"/>
                        <a:t>7</a:t>
                      </a:r>
                      <a:endParaRPr lang="en-IN" sz="400"/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Motorway Segment Crash Risk Level Prediction – Nikolaou et al. (2023)</a:t>
                      </a:r>
                      <a:endParaRPr lang="en-IN" sz="1600" dirty="0"/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LR, DT, RF, SVM, KNN, SHAP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Greece motorway data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Risk-level prediction + SHAP explainability</a:t>
                      </a:r>
                      <a:r>
                        <a:rPr lang="en-IN" sz="1600"/>
                        <a:t>; compares models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Limited to </a:t>
                      </a:r>
                      <a:r>
                        <a:rPr lang="en-IN" sz="1600" b="1"/>
                        <a:t>one motorway</a:t>
                      </a:r>
                      <a:r>
                        <a:rPr lang="en-IN" sz="1600"/>
                        <a:t>; limited real-time weather/traffic information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3340760"/>
                  </a:ext>
                </a:extLst>
              </a:tr>
              <a:tr h="4647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400" b="1"/>
                        <a:t>8</a:t>
                      </a:r>
                      <a:endParaRPr lang="en-IN" sz="400"/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Traffic Accident Severity Prediction Based on Random Forest – Yan &amp; Shen (2022)</a:t>
                      </a:r>
                      <a:endParaRPr lang="en-IN" sz="1600"/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RF, Bayesian Optimization, PDP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US-Accidents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Large and widely used accident dataset; strong </a:t>
                      </a:r>
                      <a:r>
                        <a:rPr lang="en-IN" sz="1600" b="1"/>
                        <a:t>RF classification</a:t>
                      </a:r>
                      <a:endParaRPr lang="en-IN" sz="1600"/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Predicts </a:t>
                      </a:r>
                      <a:r>
                        <a:rPr lang="en-IN" sz="1600" b="1"/>
                        <a:t>severity rather than future risk</a:t>
                      </a:r>
                      <a:r>
                        <a:rPr lang="en-IN" sz="1600"/>
                        <a:t>; limited geographical scope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9987455"/>
                  </a:ext>
                </a:extLst>
              </a:tr>
              <a:tr h="5280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400" b="1"/>
                        <a:t>9</a:t>
                      </a:r>
                      <a:endParaRPr lang="en-IN" sz="400"/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Enhanced MSCPO-XGBoost Accident Severity Prediction – Chen et al. (2025)</a:t>
                      </a:r>
                      <a:endParaRPr lang="en-IN" sz="1600"/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XGBoost, SVM, RF, CNN, SHAP, SMOTE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China NAIS, 2018–2023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Combines </a:t>
                      </a:r>
                      <a:r>
                        <a:rPr lang="en-IN" sz="1600" b="1"/>
                        <a:t>ML + SHAP + SMOTE</a:t>
                      </a:r>
                      <a:r>
                        <a:rPr lang="en-IN" sz="1600"/>
                        <a:t>; handles imbalance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Relatively small dataset; China-specific; focuses mainly on severity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5524785"/>
                  </a:ext>
                </a:extLst>
              </a:tr>
              <a:tr h="4647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400" b="1"/>
                        <a:t>10</a:t>
                      </a:r>
                      <a:endParaRPr lang="en-IN" sz="400"/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Calibrated &amp; Explainable Gradient Boosting – Alhawarat et al. (2026)</a:t>
                      </a:r>
                      <a:endParaRPr lang="en-IN" sz="1600"/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XGBoost, LightGBM, SHAP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US-Accidents + UK STATS19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Large datasets + explainability + calibration</a:t>
                      </a:r>
                      <a:r>
                        <a:rPr lang="en-IN" sz="1600" dirty="0"/>
                        <a:t>; strong recent approach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Severity definition differs between datasets; transfer to new regions may be difficult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1260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7371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32BDB4-7BE4-7C81-5B4E-3A52ADEE034C}"/>
              </a:ext>
            </a:extLst>
          </p:cNvPr>
          <p:cNvSpPr txBox="1"/>
          <p:nvPr/>
        </p:nvSpPr>
        <p:spPr>
          <a:xfrm>
            <a:off x="3495040" y="26745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highlight>
                  <a:srgbClr val="800000"/>
                </a:highlight>
              </a:rPr>
              <a:t> Real-World Applications &amp; Existing Systems 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004233F-945D-6807-091A-E510371955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830209"/>
              </p:ext>
            </p:extLst>
          </p:nvPr>
        </p:nvGraphicFramePr>
        <p:xfrm>
          <a:off x="838200" y="1293654"/>
          <a:ext cx="10515600" cy="41148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58858519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27877041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7611605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highlight>
                            <a:srgbClr val="FFFF00"/>
                          </a:highlight>
                        </a:rPr>
                        <a:t>Existing 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highlight>
                            <a:srgbClr val="FFFF00"/>
                          </a:highlight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highlight>
                            <a:srgbClr val="FFFF00"/>
                          </a:highlight>
                        </a:rPr>
                        <a:t>Limitations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522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Google Maps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Provides navigation, traffic updates, and estimated arrival time.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Focuses on fastest route, not accident risk. Does not explain safety level.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7078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Waze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Displays accidents and incidents reported by users.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Depends on user reports. Cannot predict future accident risk.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7517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Road Accident Prediction Models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Predict accident occurrence using historical datasets.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Mostly rely on historical data; limited contextual information.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3332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Accident Severity Prediction Systems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Predict how severe an accident will be.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Useful mainly after an accident has occurred.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38144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CCTV-Based Accident Detection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Detects accidents using cameras and deep learning.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Requires expensive camera infrastructure and detects accidents after they occur.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60193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7502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RESEARCH GAP</a:t>
            </a:r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DB384009-D757-C11E-2E72-A2A748D80015}"/>
              </a:ext>
            </a:extLst>
          </p:cNvPr>
          <p:cNvSpPr/>
          <p:nvPr/>
        </p:nvSpPr>
        <p:spPr>
          <a:xfrm>
            <a:off x="1691640" y="185623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Pipeline</a:t>
            </a:r>
            <a:endParaRPr lang="en-US" sz="1500" dirty="0"/>
          </a:p>
        </p:txBody>
      </p:sp>
      <p:pic>
        <p:nvPicPr>
          <p:cNvPr id="20" name="Image 1" descr="/home/claude/deck/icons/smile_white.png">
            <a:extLst>
              <a:ext uri="{FF2B5EF4-FFF2-40B4-BE49-F238E27FC236}">
                <a16:creationId xmlns:a16="http://schemas.microsoft.com/office/drawing/2014/main" id="{5F4B1C93-75F5-0EF1-C3F5-B907D1B07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1920764"/>
            <a:ext cx="329184" cy="329184"/>
          </a:xfrm>
          <a:prstGeom prst="rect">
            <a:avLst/>
          </a:prstGeom>
        </p:spPr>
      </p:pic>
      <p:sp>
        <p:nvSpPr>
          <p:cNvPr id="22" name="Text 7">
            <a:extLst>
              <a:ext uri="{FF2B5EF4-FFF2-40B4-BE49-F238E27FC236}">
                <a16:creationId xmlns:a16="http://schemas.microsoft.com/office/drawing/2014/main" id="{8A5EBFFC-2860-6D11-B942-2D5419354133}"/>
              </a:ext>
            </a:extLst>
          </p:cNvPr>
          <p:cNvSpPr/>
          <p:nvPr/>
        </p:nvSpPr>
        <p:spPr>
          <a:xfrm>
            <a:off x="7315200" y="185623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 Evaluation</a:t>
            </a:r>
            <a:endParaRPr lang="en-US" sz="1500" dirty="0"/>
          </a:p>
        </p:txBody>
      </p:sp>
      <p:pic>
        <p:nvPicPr>
          <p:cNvPr id="30" name="Image 2" descr="/home/claude/deck/icons/users_white.png">
            <a:extLst>
              <a:ext uri="{FF2B5EF4-FFF2-40B4-BE49-F238E27FC236}">
                <a16:creationId xmlns:a16="http://schemas.microsoft.com/office/drawing/2014/main" id="{3D2CB16D-E55B-57D5-9EDC-A0080EF8D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48" y="4334256"/>
            <a:ext cx="275844" cy="446532"/>
          </a:xfrm>
          <a:prstGeom prst="rect">
            <a:avLst/>
          </a:prstGeom>
        </p:spPr>
      </p:pic>
      <p:sp>
        <p:nvSpPr>
          <p:cNvPr id="32" name="Text 11">
            <a:extLst>
              <a:ext uri="{FF2B5EF4-FFF2-40B4-BE49-F238E27FC236}">
                <a16:creationId xmlns:a16="http://schemas.microsoft.com/office/drawing/2014/main" id="{929A3D37-F997-EA3D-533D-14C43EDB8B3D}"/>
              </a:ext>
            </a:extLst>
          </p:cNvPr>
          <p:cNvSpPr/>
          <p:nvPr/>
        </p:nvSpPr>
        <p:spPr>
          <a:xfrm>
            <a:off x="1691640" y="423367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Human Bias</a:t>
            </a:r>
            <a:endParaRPr lang="en-US" sz="1500" dirty="0"/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F2255603-B102-9889-0C74-A8C9531E37DC}"/>
              </a:ext>
            </a:extLst>
          </p:cNvPr>
          <p:cNvSpPr/>
          <p:nvPr/>
        </p:nvSpPr>
        <p:spPr>
          <a:xfrm>
            <a:off x="868680" y="4727448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pic>
        <p:nvPicPr>
          <p:cNvPr id="40" name="Image 3" descr="/home/claude/deck/icons/layers_white.png">
            <a:extLst>
              <a:ext uri="{FF2B5EF4-FFF2-40B4-BE49-F238E27FC236}">
                <a16:creationId xmlns:a16="http://schemas.microsoft.com/office/drawing/2014/main" id="{44A0D415-7294-2CDE-14DA-E00EACE965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7528" y="4261104"/>
            <a:ext cx="329184" cy="329184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73913DB1-D204-6407-3C34-794D159949EE}"/>
              </a:ext>
            </a:extLst>
          </p:cNvPr>
          <p:cNvSpPr txBox="1"/>
          <p:nvPr/>
        </p:nvSpPr>
        <p:spPr>
          <a:xfrm>
            <a:off x="2794000" y="1371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8186BA-DC87-5600-3FC6-A5C5EB2FDF56}"/>
              </a:ext>
            </a:extLst>
          </p:cNvPr>
          <p:cNvSpPr txBox="1"/>
          <p:nvPr/>
        </p:nvSpPr>
        <p:spPr>
          <a:xfrm>
            <a:off x="508000" y="1102141"/>
            <a:ext cx="1087628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1. Fragmented Accident Prediction Approaches</a:t>
            </a:r>
          </a:p>
          <a:p>
            <a:pPr>
              <a:buNone/>
            </a:pPr>
            <a:r>
              <a:rPr lang="en-IN" dirty="0"/>
              <a:t>Existing studies often </a:t>
            </a:r>
            <a:r>
              <a:rPr lang="en-IN" dirty="0" err="1"/>
              <a:t>analyze</a:t>
            </a:r>
            <a:r>
              <a:rPr lang="en-IN" dirty="0"/>
              <a:t> </a:t>
            </a:r>
            <a:r>
              <a:rPr lang="en-IN" b="1" dirty="0"/>
              <a:t>weather, road conditions, traffic, and accident factors separately</a:t>
            </a:r>
            <a:r>
              <a:rPr lang="en-IN" dirty="0"/>
              <a:t>, rather than combining them into one unified prediction framework.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2. Limited Use of Textual Accident Information</a:t>
            </a:r>
          </a:p>
          <a:p>
            <a:pPr>
              <a:buNone/>
            </a:pPr>
            <a:r>
              <a:rPr lang="en-IN" dirty="0"/>
              <a:t>Most accident prediction models primarily use </a:t>
            </a:r>
            <a:r>
              <a:rPr lang="en-IN" b="1" dirty="0"/>
              <a:t>structured/tabular data</a:t>
            </a:r>
            <a:r>
              <a:rPr lang="en-IN" dirty="0"/>
              <a:t>, with limited use of accident descriptions and other textual information for risk prediction.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3. Limited Explainability</a:t>
            </a:r>
          </a:p>
          <a:p>
            <a:pPr>
              <a:buNone/>
            </a:pPr>
            <a:r>
              <a:rPr lang="en-IN" dirty="0"/>
              <a:t>Many machine learning models provide an accident-risk prediction but do not clearly explain </a:t>
            </a:r>
            <a:r>
              <a:rPr lang="en-IN" b="1" dirty="0"/>
              <a:t>which factors contributed to the prediction</a:t>
            </a:r>
            <a:r>
              <a:rPr lang="en-IN" dirty="0"/>
              <a:t>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4. Lack of Integrated Risk Classification</a:t>
            </a:r>
          </a:p>
          <a:p>
            <a:pPr>
              <a:buNone/>
            </a:pPr>
            <a:r>
              <a:rPr lang="en-IN" dirty="0"/>
              <a:t>Existing approaches often focus on </a:t>
            </a:r>
            <a:r>
              <a:rPr lang="en-IN" b="1" dirty="0"/>
              <a:t>accident occurrence or severity</a:t>
            </a:r>
            <a:r>
              <a:rPr lang="en-IN" dirty="0"/>
              <a:t>, while fewer systems provide an integrated </a:t>
            </a:r>
            <a:r>
              <a:rPr lang="en-IN" b="1" dirty="0"/>
              <a:t>Low, Medium, and High risk classification</a:t>
            </a:r>
            <a:r>
              <a:rPr lang="en-IN" dirty="0"/>
              <a:t> for proactive traffic safety.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5. Limited Real-Time Decision Support</a:t>
            </a:r>
          </a:p>
          <a:p>
            <a:pPr>
              <a:buNone/>
            </a:pPr>
            <a:r>
              <a:rPr lang="en-IN" dirty="0"/>
              <a:t>Many models are evaluated offline and are not integrated into an accessible </a:t>
            </a:r>
            <a:r>
              <a:rPr lang="en-IN" b="1" dirty="0"/>
              <a:t>web-based dashboard</a:t>
            </a:r>
            <a:r>
              <a:rPr lang="en-IN" dirty="0"/>
              <a:t> for practical traffic-risk monitoring and decision-making.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INNOVATION &amp; CREATIVITY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8A03EB-095A-6545-F95D-DC53AC3E3608}"/>
              </a:ext>
            </a:extLst>
          </p:cNvPr>
          <p:cNvSpPr txBox="1"/>
          <p:nvPr/>
        </p:nvSpPr>
        <p:spPr>
          <a:xfrm>
            <a:off x="914398" y="1004016"/>
            <a:ext cx="10982961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INNOVATION &amp; CREATIVITY</a:t>
            </a:r>
          </a:p>
          <a:p>
            <a:pPr>
              <a:buNone/>
            </a:pPr>
            <a:r>
              <a:rPr lang="en-IN" b="1" dirty="0"/>
              <a:t>01 — Unified Accident Risk Framework</a:t>
            </a:r>
          </a:p>
          <a:p>
            <a:pPr>
              <a:buNone/>
            </a:pPr>
            <a:r>
              <a:rPr lang="en-IN" dirty="0"/>
              <a:t>Combines </a:t>
            </a:r>
            <a:r>
              <a:rPr lang="en-IN" b="1" dirty="0"/>
              <a:t>traffic, weather, road, and accident-related factors</a:t>
            </a:r>
            <a:r>
              <a:rPr lang="en-IN" dirty="0"/>
              <a:t> into a single prediction system.</a:t>
            </a:r>
            <a:br>
              <a:rPr lang="en-IN" dirty="0"/>
            </a:br>
            <a:r>
              <a:rPr lang="en-IN" dirty="0"/>
              <a:t>Provides an integrated approach to urban accident-risk assessment.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02 — NLP-Based Accident Analysis</a:t>
            </a:r>
          </a:p>
          <a:p>
            <a:pPr>
              <a:buNone/>
            </a:pPr>
            <a:r>
              <a:rPr lang="en-IN" dirty="0"/>
              <a:t>Uses </a:t>
            </a:r>
            <a:r>
              <a:rPr lang="en-IN" b="1" dirty="0"/>
              <a:t>text preprocessing and feature extraction</a:t>
            </a:r>
            <a:r>
              <a:rPr lang="en-IN" dirty="0"/>
              <a:t> to </a:t>
            </a:r>
            <a:r>
              <a:rPr lang="en-IN" dirty="0" err="1"/>
              <a:t>analyze</a:t>
            </a:r>
            <a:r>
              <a:rPr lang="en-IN" dirty="0"/>
              <a:t> accident-related textual information.</a:t>
            </a:r>
            <a:br>
              <a:rPr lang="en-IN" dirty="0"/>
            </a:br>
            <a:r>
              <a:rPr lang="en-IN" dirty="0"/>
              <a:t>Goes beyond simple structured-data analysis.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03 — Explainable Risk Prediction</a:t>
            </a:r>
          </a:p>
          <a:p>
            <a:pPr>
              <a:buNone/>
            </a:pPr>
            <a:r>
              <a:rPr lang="en-IN" dirty="0"/>
              <a:t>Uses </a:t>
            </a:r>
            <a:r>
              <a:rPr lang="en-IN" b="1" dirty="0"/>
              <a:t>SHAP/LIME</a:t>
            </a:r>
            <a:r>
              <a:rPr lang="en-IN" dirty="0"/>
              <a:t> to identify the factors that influence accident-risk predictions.</a:t>
            </a:r>
            <a:br>
              <a:rPr lang="en-IN" dirty="0"/>
            </a:br>
            <a:r>
              <a:rPr lang="en-IN" dirty="0"/>
              <a:t>Makes the ML model more </a:t>
            </a:r>
            <a:r>
              <a:rPr lang="en-IN" b="1" dirty="0"/>
              <a:t>transparent and understandable</a:t>
            </a:r>
            <a:r>
              <a:rPr lang="en-IN" dirty="0"/>
              <a:t>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04 — Interactive Risk Dashboard</a:t>
            </a:r>
          </a:p>
          <a:p>
            <a:pPr>
              <a:buNone/>
            </a:pPr>
            <a:r>
              <a:rPr lang="en-IN" dirty="0"/>
              <a:t>Provides </a:t>
            </a:r>
            <a:r>
              <a:rPr lang="en-IN" b="1" dirty="0"/>
              <a:t>Low, Medium, and High risk predictions</a:t>
            </a:r>
            <a:r>
              <a:rPr lang="en-IN" dirty="0"/>
              <a:t> through a web-based interface.</a:t>
            </a:r>
            <a:br>
              <a:rPr lang="en-IN" dirty="0"/>
            </a:br>
            <a:r>
              <a:rPr lang="en-IN" dirty="0"/>
              <a:t>Supports traffic monitoring, visualization, and </a:t>
            </a:r>
            <a:r>
              <a:rPr lang="en-IN" b="1" dirty="0"/>
              <a:t>proactive decision-making</a:t>
            </a:r>
            <a:r>
              <a:rPr lang="en-IN" dirty="0"/>
              <a:t>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Key Idea:</a:t>
            </a:r>
          </a:p>
          <a:p>
            <a:pPr>
              <a:buNone/>
            </a:pPr>
            <a:r>
              <a:rPr lang="en-IN" b="1" dirty="0"/>
              <a:t>AI does not only predict traffic accident risk — it explains the reasons behind the prediction and supports safer traffic management.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NOVALITY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460351-3015-2683-070A-A69C927130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778" b="4889"/>
          <a:stretch>
            <a:fillRect/>
          </a:stretch>
        </p:blipFill>
        <p:spPr>
          <a:xfrm>
            <a:off x="735724" y="995680"/>
            <a:ext cx="10720552" cy="5527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3F743-01B3-3879-0894-974C73371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91A521F-E63E-5FCC-99E4-7E3CD02E6FC0}"/>
              </a:ext>
            </a:extLst>
          </p:cNvPr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037B9E-5097-BABA-3410-DB3EBA8C5529}"/>
              </a:ext>
            </a:extLst>
          </p:cNvPr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FEASIBILITY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34DADC-661E-A2F8-6986-F854B63B56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421" b="22772"/>
          <a:stretch>
            <a:fillRect/>
          </a:stretch>
        </p:blipFill>
        <p:spPr>
          <a:xfrm>
            <a:off x="544204" y="948490"/>
            <a:ext cx="11103590" cy="50933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D8514E-167C-D17D-7D78-5CAD192DB6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4815"/>
          <a:stretch>
            <a:fillRect/>
          </a:stretch>
        </p:blipFill>
        <p:spPr>
          <a:xfrm>
            <a:off x="952500" y="6096000"/>
            <a:ext cx="102870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414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306BC-0D02-72B5-7962-7CD7174D9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71F66FC-34C6-F1E3-D83C-E29590F59346}"/>
              </a:ext>
            </a:extLst>
          </p:cNvPr>
          <p:cNvSpPr/>
          <p:nvPr/>
        </p:nvSpPr>
        <p:spPr>
          <a:xfrm>
            <a:off x="2563499" y="92996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PROJECT PLAN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5E27E7-CF87-770C-3DCB-07F30CC6929E}"/>
              </a:ext>
            </a:extLst>
          </p:cNvPr>
          <p:cNvSpPr txBox="1"/>
          <p:nvPr/>
        </p:nvSpPr>
        <p:spPr>
          <a:xfrm>
            <a:off x="2578608" y="951772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PROJECT PLAN</a:t>
            </a: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3D716DE3-680B-EBA2-67B7-D90DAC79202C}"/>
              </a:ext>
            </a:extLst>
          </p:cNvPr>
          <p:cNvSpPr/>
          <p:nvPr/>
        </p:nvSpPr>
        <p:spPr>
          <a:xfrm>
            <a:off x="548640" y="14173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400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5020BC88-F061-B974-FFD5-329A7F4B9758}"/>
              </a:ext>
            </a:extLst>
          </p:cNvPr>
          <p:cNvSpPr/>
          <p:nvPr/>
        </p:nvSpPr>
        <p:spPr>
          <a:xfrm>
            <a:off x="640080" y="198424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Resume</a:t>
            </a:r>
            <a:endParaRPr lang="en-US" sz="120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D85954B5-DA3A-5752-A408-A68FD4380B8C}"/>
              </a:ext>
            </a:extLst>
          </p:cNvPr>
          <p:cNvSpPr/>
          <p:nvPr/>
        </p:nvSpPr>
        <p:spPr>
          <a:xfrm>
            <a:off x="731520" y="23317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Resume Parsing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JD Processing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Semantic Matching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Dataset Cleaning</a:t>
            </a:r>
            <a:endParaRPr lang="en-US" sz="1000" dirty="0"/>
          </a:p>
        </p:txBody>
      </p:sp>
      <p:sp>
        <p:nvSpPr>
          <p:cNvPr id="17" name="Shape 6">
            <a:extLst>
              <a:ext uri="{FF2B5EF4-FFF2-40B4-BE49-F238E27FC236}">
                <a16:creationId xmlns:a16="http://schemas.microsoft.com/office/drawing/2014/main" id="{EB7F297C-CAD8-79C9-7341-9D96E41FB682}"/>
              </a:ext>
            </a:extLst>
          </p:cNvPr>
          <p:cNvSpPr/>
          <p:nvPr/>
        </p:nvSpPr>
        <p:spPr>
          <a:xfrm>
            <a:off x="3136392" y="2651760"/>
            <a:ext cx="292608" cy="182880"/>
          </a:xfrm>
          <a:prstGeom prst="rightArrow">
            <a:avLst/>
          </a:prstGeom>
          <a:solidFill>
            <a:srgbClr val="5B647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E51E8D6B-433E-AB43-E74D-5B9949F1C06C}"/>
              </a:ext>
            </a:extLst>
          </p:cNvPr>
          <p:cNvSpPr/>
          <p:nvPr/>
        </p:nvSpPr>
        <p:spPr>
          <a:xfrm>
            <a:off x="1751076" y="3502152"/>
            <a:ext cx="201168" cy="256032"/>
          </a:xfrm>
          <a:prstGeom prst="down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F53B188F-D839-1E1E-6E07-2DD7F5DAB40D}"/>
              </a:ext>
            </a:extLst>
          </p:cNvPr>
          <p:cNvSpPr/>
          <p:nvPr/>
        </p:nvSpPr>
        <p:spPr>
          <a:xfrm>
            <a:off x="548640" y="377647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1150" dirty="0"/>
          </a:p>
        </p:txBody>
      </p:sp>
      <p:sp>
        <p:nvSpPr>
          <p:cNvPr id="25" name="Shape 10">
            <a:extLst>
              <a:ext uri="{FF2B5EF4-FFF2-40B4-BE49-F238E27FC236}">
                <a16:creationId xmlns:a16="http://schemas.microsoft.com/office/drawing/2014/main" id="{7E99ECD8-56CD-84F8-673C-F555B23B64CF}"/>
              </a:ext>
            </a:extLst>
          </p:cNvPr>
          <p:cNvSpPr/>
          <p:nvPr/>
        </p:nvSpPr>
        <p:spPr>
          <a:xfrm>
            <a:off x="3410712" y="141732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F31A5027-1D08-CD9C-D22A-7BBEA5AF39D6}"/>
              </a:ext>
            </a:extLst>
          </p:cNvPr>
          <p:cNvSpPr/>
          <p:nvPr/>
        </p:nvSpPr>
        <p:spPr>
          <a:xfrm>
            <a:off x="3410712" y="14173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4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3AE7819B-D0DE-7B88-47C8-C6EE82EF9989}"/>
              </a:ext>
            </a:extLst>
          </p:cNvPr>
          <p:cNvSpPr/>
          <p:nvPr/>
        </p:nvSpPr>
        <p:spPr>
          <a:xfrm>
            <a:off x="3410712" y="1920240"/>
            <a:ext cx="2606040" cy="1554480"/>
          </a:xfrm>
          <a:prstGeom prst="rect">
            <a:avLst/>
          </a:prstGeom>
          <a:solidFill>
            <a:srgbClr val="F4F8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0B72594C-A96E-502E-B57A-9F9912056096}"/>
              </a:ext>
            </a:extLst>
          </p:cNvPr>
          <p:cNvSpPr/>
          <p:nvPr/>
        </p:nvSpPr>
        <p:spPr>
          <a:xfrm>
            <a:off x="3502152" y="198424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&amp; Emotion</a:t>
            </a:r>
            <a:endParaRPr lang="en-US" sz="1200" dirty="0"/>
          </a:p>
        </p:txBody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308E3F03-BE51-503C-508A-02F6D5D10C4C}"/>
              </a:ext>
            </a:extLst>
          </p:cNvPr>
          <p:cNvSpPr/>
          <p:nvPr/>
        </p:nvSpPr>
        <p:spPr>
          <a:xfrm>
            <a:off x="3593592" y="23317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Whisper Integration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Speech → Text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Emotion Analysis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Audio Processing</a:t>
            </a:r>
            <a:endParaRPr lang="en-US" sz="1000" dirty="0"/>
          </a:p>
        </p:txBody>
      </p:sp>
      <p:sp>
        <p:nvSpPr>
          <p:cNvPr id="35" name="Shape 15">
            <a:extLst>
              <a:ext uri="{FF2B5EF4-FFF2-40B4-BE49-F238E27FC236}">
                <a16:creationId xmlns:a16="http://schemas.microsoft.com/office/drawing/2014/main" id="{DEEB3122-5A09-C38B-E6C1-B4813426F340}"/>
              </a:ext>
            </a:extLst>
          </p:cNvPr>
          <p:cNvSpPr/>
          <p:nvPr/>
        </p:nvSpPr>
        <p:spPr>
          <a:xfrm>
            <a:off x="5998464" y="2651760"/>
            <a:ext cx="292608" cy="182880"/>
          </a:xfrm>
          <a:prstGeom prst="rightArrow">
            <a:avLst/>
          </a:prstGeom>
          <a:solidFill>
            <a:srgbClr val="5B647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16">
            <a:extLst>
              <a:ext uri="{FF2B5EF4-FFF2-40B4-BE49-F238E27FC236}">
                <a16:creationId xmlns:a16="http://schemas.microsoft.com/office/drawing/2014/main" id="{ECCE74D2-D918-10F3-490B-E761972FE03C}"/>
              </a:ext>
            </a:extLst>
          </p:cNvPr>
          <p:cNvSpPr/>
          <p:nvPr/>
        </p:nvSpPr>
        <p:spPr>
          <a:xfrm>
            <a:off x="4613148" y="3502152"/>
            <a:ext cx="201168" cy="256032"/>
          </a:xfrm>
          <a:prstGeom prst="down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17">
            <a:extLst>
              <a:ext uri="{FF2B5EF4-FFF2-40B4-BE49-F238E27FC236}">
                <a16:creationId xmlns:a16="http://schemas.microsoft.com/office/drawing/2014/main" id="{1D6BC82F-3D75-529F-CD52-98B20F950EBE}"/>
              </a:ext>
            </a:extLst>
          </p:cNvPr>
          <p:cNvSpPr/>
          <p:nvPr/>
        </p:nvSpPr>
        <p:spPr>
          <a:xfrm>
            <a:off x="3410712" y="3776472"/>
            <a:ext cx="2606040" cy="384048"/>
          </a:xfrm>
          <a:prstGeom prst="roundRect">
            <a:avLst>
              <a:gd name="adj" fmla="val 14286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18">
            <a:extLst>
              <a:ext uri="{FF2B5EF4-FFF2-40B4-BE49-F238E27FC236}">
                <a16:creationId xmlns:a16="http://schemas.microsoft.com/office/drawing/2014/main" id="{8D01C4F2-D1BD-EDD6-0649-CDF64DEC333E}"/>
              </a:ext>
            </a:extLst>
          </p:cNvPr>
          <p:cNvSpPr/>
          <p:nvPr/>
        </p:nvSpPr>
        <p:spPr>
          <a:xfrm>
            <a:off x="3410712" y="377647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150" dirty="0"/>
          </a:p>
        </p:txBody>
      </p:sp>
      <p:sp>
        <p:nvSpPr>
          <p:cNvPr id="43" name="Shape 19">
            <a:extLst>
              <a:ext uri="{FF2B5EF4-FFF2-40B4-BE49-F238E27FC236}">
                <a16:creationId xmlns:a16="http://schemas.microsoft.com/office/drawing/2014/main" id="{66077B01-B281-E193-087A-0DFB480CDD33}"/>
              </a:ext>
            </a:extLst>
          </p:cNvPr>
          <p:cNvSpPr/>
          <p:nvPr/>
        </p:nvSpPr>
        <p:spPr>
          <a:xfrm>
            <a:off x="6272784" y="141732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20">
            <a:extLst>
              <a:ext uri="{FF2B5EF4-FFF2-40B4-BE49-F238E27FC236}">
                <a16:creationId xmlns:a16="http://schemas.microsoft.com/office/drawing/2014/main" id="{EDAC3E82-B169-9CF2-0CD5-0B3AA1D0FC8F}"/>
              </a:ext>
            </a:extLst>
          </p:cNvPr>
          <p:cNvSpPr/>
          <p:nvPr/>
        </p:nvSpPr>
        <p:spPr>
          <a:xfrm>
            <a:off x="6272784" y="14173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400" dirty="0"/>
          </a:p>
        </p:txBody>
      </p:sp>
      <p:sp>
        <p:nvSpPr>
          <p:cNvPr id="47" name="Shape 21">
            <a:extLst>
              <a:ext uri="{FF2B5EF4-FFF2-40B4-BE49-F238E27FC236}">
                <a16:creationId xmlns:a16="http://schemas.microsoft.com/office/drawing/2014/main" id="{EBD2E4E7-0FEE-2524-CE48-F6CAE4B11D86}"/>
              </a:ext>
            </a:extLst>
          </p:cNvPr>
          <p:cNvSpPr/>
          <p:nvPr/>
        </p:nvSpPr>
        <p:spPr>
          <a:xfrm>
            <a:off x="6272784" y="1920240"/>
            <a:ext cx="2606040" cy="1554480"/>
          </a:xfrm>
          <a:prstGeom prst="rect">
            <a:avLst/>
          </a:prstGeom>
          <a:solidFill>
            <a:srgbClr val="F4F8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22">
            <a:extLst>
              <a:ext uri="{FF2B5EF4-FFF2-40B4-BE49-F238E27FC236}">
                <a16:creationId xmlns:a16="http://schemas.microsoft.com/office/drawing/2014/main" id="{FFCA041E-05F9-874C-564E-9BD4722D26CE}"/>
              </a:ext>
            </a:extLst>
          </p:cNvPr>
          <p:cNvSpPr/>
          <p:nvPr/>
        </p:nvSpPr>
        <p:spPr>
          <a:xfrm>
            <a:off x="6364224" y="198424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&amp; Coding</a:t>
            </a:r>
            <a:endParaRPr lang="en-US" sz="1200" dirty="0"/>
          </a:p>
        </p:txBody>
      </p:sp>
      <p:sp>
        <p:nvSpPr>
          <p:cNvPr id="51" name="Text 23">
            <a:extLst>
              <a:ext uri="{FF2B5EF4-FFF2-40B4-BE49-F238E27FC236}">
                <a16:creationId xmlns:a16="http://schemas.microsoft.com/office/drawing/2014/main" id="{A66C2913-6C76-79F8-A319-3278AA77F0F7}"/>
              </a:ext>
            </a:extLst>
          </p:cNvPr>
          <p:cNvSpPr/>
          <p:nvPr/>
        </p:nvSpPr>
        <p:spPr>
          <a:xfrm>
            <a:off x="6455664" y="23317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BERT Answer Scoring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Semantic Matching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Coding Assessment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Test-Case Grading</a:t>
            </a:r>
            <a:endParaRPr lang="en-US" sz="1000" dirty="0"/>
          </a:p>
        </p:txBody>
      </p:sp>
      <p:sp>
        <p:nvSpPr>
          <p:cNvPr id="53" name="Shape 24">
            <a:extLst>
              <a:ext uri="{FF2B5EF4-FFF2-40B4-BE49-F238E27FC236}">
                <a16:creationId xmlns:a16="http://schemas.microsoft.com/office/drawing/2014/main" id="{24FAEA18-D884-97BA-EB17-DD49035B96CF}"/>
              </a:ext>
            </a:extLst>
          </p:cNvPr>
          <p:cNvSpPr/>
          <p:nvPr/>
        </p:nvSpPr>
        <p:spPr>
          <a:xfrm>
            <a:off x="8860536" y="2651760"/>
            <a:ext cx="292608" cy="182880"/>
          </a:xfrm>
          <a:prstGeom prst="rightArrow">
            <a:avLst/>
          </a:prstGeom>
          <a:solidFill>
            <a:srgbClr val="5B647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Shape 25">
            <a:extLst>
              <a:ext uri="{FF2B5EF4-FFF2-40B4-BE49-F238E27FC236}">
                <a16:creationId xmlns:a16="http://schemas.microsoft.com/office/drawing/2014/main" id="{5A7079F6-0836-5C14-5C50-96E61EAB62C3}"/>
              </a:ext>
            </a:extLst>
          </p:cNvPr>
          <p:cNvSpPr/>
          <p:nvPr/>
        </p:nvSpPr>
        <p:spPr>
          <a:xfrm>
            <a:off x="7475220" y="3502152"/>
            <a:ext cx="201168" cy="256032"/>
          </a:xfrm>
          <a:prstGeom prst="down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Shape 26">
            <a:extLst>
              <a:ext uri="{FF2B5EF4-FFF2-40B4-BE49-F238E27FC236}">
                <a16:creationId xmlns:a16="http://schemas.microsoft.com/office/drawing/2014/main" id="{3FF2BE91-4F07-17E7-79CD-B2F41A3BE845}"/>
              </a:ext>
            </a:extLst>
          </p:cNvPr>
          <p:cNvSpPr/>
          <p:nvPr/>
        </p:nvSpPr>
        <p:spPr>
          <a:xfrm>
            <a:off x="6272784" y="3776472"/>
            <a:ext cx="2606040" cy="384048"/>
          </a:xfrm>
          <a:prstGeom prst="roundRect">
            <a:avLst>
              <a:gd name="adj" fmla="val 14286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27">
            <a:extLst>
              <a:ext uri="{FF2B5EF4-FFF2-40B4-BE49-F238E27FC236}">
                <a16:creationId xmlns:a16="http://schemas.microsoft.com/office/drawing/2014/main" id="{DBA99B4A-676F-ED8F-D2F1-08B07F98293A}"/>
              </a:ext>
            </a:extLst>
          </p:cNvPr>
          <p:cNvSpPr/>
          <p:nvPr/>
        </p:nvSpPr>
        <p:spPr>
          <a:xfrm>
            <a:off x="6272784" y="377647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50" dirty="0"/>
          </a:p>
        </p:txBody>
      </p:sp>
      <p:sp>
        <p:nvSpPr>
          <p:cNvPr id="63" name="Text 29">
            <a:extLst>
              <a:ext uri="{FF2B5EF4-FFF2-40B4-BE49-F238E27FC236}">
                <a16:creationId xmlns:a16="http://schemas.microsoft.com/office/drawing/2014/main" id="{BDA7AE82-5AF8-254B-7F38-51A91AEFCBAB}"/>
              </a:ext>
            </a:extLst>
          </p:cNvPr>
          <p:cNvSpPr/>
          <p:nvPr/>
        </p:nvSpPr>
        <p:spPr>
          <a:xfrm>
            <a:off x="9134856" y="14173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400" dirty="0"/>
          </a:p>
        </p:txBody>
      </p:sp>
      <p:sp>
        <p:nvSpPr>
          <p:cNvPr id="67" name="Text 31">
            <a:extLst>
              <a:ext uri="{FF2B5EF4-FFF2-40B4-BE49-F238E27FC236}">
                <a16:creationId xmlns:a16="http://schemas.microsoft.com/office/drawing/2014/main" id="{42AA8C29-12CE-9F11-3F37-7DD621EDDD16}"/>
              </a:ext>
            </a:extLst>
          </p:cNvPr>
          <p:cNvSpPr/>
          <p:nvPr/>
        </p:nvSpPr>
        <p:spPr>
          <a:xfrm>
            <a:off x="9226296" y="198424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&amp; Testing</a:t>
            </a:r>
            <a:endParaRPr lang="en-US" sz="1200" dirty="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C95F9864-E1E5-70B6-F264-61785C9926D2}"/>
              </a:ext>
            </a:extLst>
          </p:cNvPr>
          <p:cNvSpPr/>
          <p:nvPr/>
        </p:nvSpPr>
        <p:spPr>
          <a:xfrm>
            <a:off x="9317736" y="23317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Dashboard Integration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Final Report Gen.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Pipeline Testing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Deployment</a:t>
            </a:r>
            <a:endParaRPr lang="en-US" sz="1000" dirty="0"/>
          </a:p>
        </p:txBody>
      </p:sp>
      <p:sp>
        <p:nvSpPr>
          <p:cNvPr id="71" name="Shape 33">
            <a:extLst>
              <a:ext uri="{FF2B5EF4-FFF2-40B4-BE49-F238E27FC236}">
                <a16:creationId xmlns:a16="http://schemas.microsoft.com/office/drawing/2014/main" id="{657EBF73-E73A-973C-5A04-8FE774B925B0}"/>
              </a:ext>
            </a:extLst>
          </p:cNvPr>
          <p:cNvSpPr/>
          <p:nvPr/>
        </p:nvSpPr>
        <p:spPr>
          <a:xfrm>
            <a:off x="10337292" y="3502152"/>
            <a:ext cx="201168" cy="256032"/>
          </a:xfrm>
          <a:prstGeom prst="down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5" name="Text 35">
            <a:extLst>
              <a:ext uri="{FF2B5EF4-FFF2-40B4-BE49-F238E27FC236}">
                <a16:creationId xmlns:a16="http://schemas.microsoft.com/office/drawing/2014/main" id="{0E79F52F-4C68-AF9D-8BF8-BCD9390CB0F9}"/>
              </a:ext>
            </a:extLst>
          </p:cNvPr>
          <p:cNvSpPr/>
          <p:nvPr/>
        </p:nvSpPr>
        <p:spPr>
          <a:xfrm>
            <a:off x="9134856" y="377647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150" dirty="0"/>
          </a:p>
        </p:txBody>
      </p:sp>
      <p:sp>
        <p:nvSpPr>
          <p:cNvPr id="81" name="Text 38">
            <a:extLst>
              <a:ext uri="{FF2B5EF4-FFF2-40B4-BE49-F238E27FC236}">
                <a16:creationId xmlns:a16="http://schemas.microsoft.com/office/drawing/2014/main" id="{0A099BD6-CF4A-5A0B-F1C3-09ACE18098A3}"/>
              </a:ext>
            </a:extLst>
          </p:cNvPr>
          <p:cNvSpPr/>
          <p:nvPr/>
        </p:nvSpPr>
        <p:spPr>
          <a:xfrm>
            <a:off x="658368" y="491032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Matching</a:t>
            </a:r>
            <a:endParaRPr lang="en-US" sz="1150" dirty="0"/>
          </a:p>
        </p:txBody>
      </p:sp>
      <p:sp>
        <p:nvSpPr>
          <p:cNvPr id="83" name="Text 39">
            <a:extLst>
              <a:ext uri="{FF2B5EF4-FFF2-40B4-BE49-F238E27FC236}">
                <a16:creationId xmlns:a16="http://schemas.microsoft.com/office/drawing/2014/main" id="{A1FA6A4C-CF5C-BF32-55AC-B9B0B38A9824}"/>
              </a:ext>
            </a:extLst>
          </p:cNvPr>
          <p:cNvSpPr/>
          <p:nvPr/>
        </p:nvSpPr>
        <p:spPr>
          <a:xfrm>
            <a:off x="658368" y="54406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/ Match Score</a:t>
            </a:r>
            <a:endParaRPr lang="en-US" sz="950" dirty="0"/>
          </a:p>
        </p:txBody>
      </p:sp>
      <p:sp>
        <p:nvSpPr>
          <p:cNvPr id="85" name="Shape 40">
            <a:extLst>
              <a:ext uri="{FF2B5EF4-FFF2-40B4-BE49-F238E27FC236}">
                <a16:creationId xmlns:a16="http://schemas.microsoft.com/office/drawing/2014/main" id="{0DF6ABDB-6E8C-E6B4-EF6A-4AAB7767DFC8}"/>
              </a:ext>
            </a:extLst>
          </p:cNvPr>
          <p:cNvSpPr/>
          <p:nvPr/>
        </p:nvSpPr>
        <p:spPr>
          <a:xfrm>
            <a:off x="2834640" y="4800600"/>
            <a:ext cx="2139696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Text 41">
            <a:extLst>
              <a:ext uri="{FF2B5EF4-FFF2-40B4-BE49-F238E27FC236}">
                <a16:creationId xmlns:a16="http://schemas.microsoft.com/office/drawing/2014/main" id="{73C13224-D672-5220-72D1-E820E15D546A}"/>
              </a:ext>
            </a:extLst>
          </p:cNvPr>
          <p:cNvSpPr/>
          <p:nvPr/>
        </p:nvSpPr>
        <p:spPr>
          <a:xfrm>
            <a:off x="2944368" y="491032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</a:t>
            </a:r>
            <a:endParaRPr lang="en-US" sz="1150" dirty="0"/>
          </a:p>
        </p:txBody>
      </p:sp>
      <p:sp>
        <p:nvSpPr>
          <p:cNvPr id="89" name="Text 42">
            <a:extLst>
              <a:ext uri="{FF2B5EF4-FFF2-40B4-BE49-F238E27FC236}">
                <a16:creationId xmlns:a16="http://schemas.microsoft.com/office/drawing/2014/main" id="{80725944-E0BF-F1D2-1C49-E2C37041233C}"/>
              </a:ext>
            </a:extLst>
          </p:cNvPr>
          <p:cNvSpPr/>
          <p:nvPr/>
        </p:nvSpPr>
        <p:spPr>
          <a:xfrm>
            <a:off x="2944368" y="54406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 Accuracy</a:t>
            </a:r>
            <a:endParaRPr lang="en-US" sz="950" dirty="0"/>
          </a:p>
        </p:txBody>
      </p:sp>
      <p:sp>
        <p:nvSpPr>
          <p:cNvPr id="91" name="Shape 43">
            <a:extLst>
              <a:ext uri="{FF2B5EF4-FFF2-40B4-BE49-F238E27FC236}">
                <a16:creationId xmlns:a16="http://schemas.microsoft.com/office/drawing/2014/main" id="{466B539A-D987-8DA6-EAE5-05D74C506B78}"/>
              </a:ext>
            </a:extLst>
          </p:cNvPr>
          <p:cNvSpPr/>
          <p:nvPr/>
        </p:nvSpPr>
        <p:spPr>
          <a:xfrm>
            <a:off x="5120640" y="4800600"/>
            <a:ext cx="2139696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Text 44">
            <a:extLst>
              <a:ext uri="{FF2B5EF4-FFF2-40B4-BE49-F238E27FC236}">
                <a16:creationId xmlns:a16="http://schemas.microsoft.com/office/drawing/2014/main" id="{BE2D5707-B902-D362-2939-C86F028B7601}"/>
              </a:ext>
            </a:extLst>
          </p:cNvPr>
          <p:cNvSpPr/>
          <p:nvPr/>
        </p:nvSpPr>
        <p:spPr>
          <a:xfrm>
            <a:off x="5230368" y="491032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Evaluation</a:t>
            </a:r>
            <a:endParaRPr lang="en-US" sz="1150" dirty="0"/>
          </a:p>
        </p:txBody>
      </p:sp>
      <p:sp>
        <p:nvSpPr>
          <p:cNvPr id="95" name="Text 45">
            <a:extLst>
              <a:ext uri="{FF2B5EF4-FFF2-40B4-BE49-F238E27FC236}">
                <a16:creationId xmlns:a16="http://schemas.microsoft.com/office/drawing/2014/main" id="{4A54B675-37DE-CEF2-D26B-22C01C82D41B}"/>
              </a:ext>
            </a:extLst>
          </p:cNvPr>
          <p:cNvSpPr/>
          <p:nvPr/>
        </p:nvSpPr>
        <p:spPr>
          <a:xfrm>
            <a:off x="5230368" y="54406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/ Relevance Score</a:t>
            </a:r>
            <a:endParaRPr lang="en-US" sz="950" dirty="0"/>
          </a:p>
        </p:txBody>
      </p:sp>
      <p:sp>
        <p:nvSpPr>
          <p:cNvPr id="97" name="Shape 46">
            <a:extLst>
              <a:ext uri="{FF2B5EF4-FFF2-40B4-BE49-F238E27FC236}">
                <a16:creationId xmlns:a16="http://schemas.microsoft.com/office/drawing/2014/main" id="{A31D5B85-DA6D-A8D1-8F89-2F916A6DA13F}"/>
              </a:ext>
            </a:extLst>
          </p:cNvPr>
          <p:cNvSpPr/>
          <p:nvPr/>
        </p:nvSpPr>
        <p:spPr>
          <a:xfrm>
            <a:off x="7406640" y="4800600"/>
            <a:ext cx="2139696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" name="Text 47">
            <a:extLst>
              <a:ext uri="{FF2B5EF4-FFF2-40B4-BE49-F238E27FC236}">
                <a16:creationId xmlns:a16="http://schemas.microsoft.com/office/drawing/2014/main" id="{761BC0A1-D072-53B5-B35F-4FC996191A5B}"/>
              </a:ext>
            </a:extLst>
          </p:cNvPr>
          <p:cNvSpPr/>
          <p:nvPr/>
        </p:nvSpPr>
        <p:spPr>
          <a:xfrm>
            <a:off x="7516368" y="491032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Analysis</a:t>
            </a:r>
            <a:endParaRPr lang="en-US" sz="1150" dirty="0"/>
          </a:p>
        </p:txBody>
      </p:sp>
      <p:sp>
        <p:nvSpPr>
          <p:cNvPr id="101" name="Text 48">
            <a:extLst>
              <a:ext uri="{FF2B5EF4-FFF2-40B4-BE49-F238E27FC236}">
                <a16:creationId xmlns:a16="http://schemas.microsoft.com/office/drawing/2014/main" id="{99B7FE75-B7CB-4762-9389-F4E698017CB0}"/>
              </a:ext>
            </a:extLst>
          </p:cNvPr>
          <p:cNvSpPr/>
          <p:nvPr/>
        </p:nvSpPr>
        <p:spPr>
          <a:xfrm>
            <a:off x="7516368" y="54406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Performance</a:t>
            </a:r>
            <a:endParaRPr lang="en-US" sz="9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6ADC17-C49D-7204-E31B-2F18F3E2C3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94" t="11754" r="2810"/>
          <a:stretch>
            <a:fillRect/>
          </a:stretch>
        </p:blipFill>
        <p:spPr>
          <a:xfrm>
            <a:off x="730504" y="812800"/>
            <a:ext cx="10535920" cy="5980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42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74460" y="302403"/>
            <a:ext cx="671039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solidFill>
                  <a:schemeClr val="bg1"/>
                </a:solidFill>
              </a:rPr>
              <a:t>PROPOSED ARCHITECTURE/METHODOLOGY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B8B8CD-F822-B5D9-65D7-CA9B3005A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71" y="0"/>
            <a:ext cx="120286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F5FE0-AE2C-EB2F-AD3C-D7264FDD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   SYSTEM DESIGN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086C33-4AE8-4DFC-33C2-B5620ECEBB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2693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12A99-3990-A0DA-FACF-72E61151B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             PERFORMANCE EVALUATION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C8C22-D96F-7770-2B2F-601341FA2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2845" y="1905292"/>
            <a:ext cx="10515600" cy="4351338"/>
          </a:xfrm>
        </p:spPr>
        <p:txBody>
          <a:bodyPr/>
          <a:lstStyle/>
          <a:p>
            <a:r>
              <a:rPr lang="en-IN" sz="1400" b="1" dirty="0"/>
              <a:t>Evaluation Metrics</a:t>
            </a:r>
          </a:p>
          <a:p>
            <a:r>
              <a:rPr lang="en-IN" sz="1400" b="1" dirty="0"/>
              <a:t>Accuracy</a:t>
            </a:r>
            <a:br>
              <a:rPr lang="en-IN" sz="1400" dirty="0"/>
            </a:br>
            <a:r>
              <a:rPr lang="en-IN" sz="1400" dirty="0"/>
              <a:t>Measures the overall percentage of correctly classified predictions.</a:t>
            </a:r>
          </a:p>
          <a:p>
            <a:r>
              <a:rPr lang="en-IN" sz="1400" b="1" dirty="0"/>
              <a:t>Precision</a:t>
            </a:r>
            <a:br>
              <a:rPr lang="en-IN" sz="1400" dirty="0"/>
            </a:br>
            <a:r>
              <a:rPr lang="en-IN" sz="1400" dirty="0"/>
              <a:t>Measures how many predicted risk cases are actually correct.</a:t>
            </a:r>
          </a:p>
          <a:p>
            <a:r>
              <a:rPr lang="en-IN" sz="1400" b="1" dirty="0"/>
              <a:t>Recall</a:t>
            </a:r>
            <a:br>
              <a:rPr lang="en-IN" sz="1400" dirty="0"/>
            </a:br>
            <a:r>
              <a:rPr lang="en-IN" sz="1400" dirty="0"/>
              <a:t>Measures how many actual cases are correctly identified.</a:t>
            </a:r>
          </a:p>
          <a:p>
            <a:r>
              <a:rPr lang="en-IN" sz="1400" b="1" dirty="0"/>
              <a:t>F1-Score</a:t>
            </a:r>
            <a:br>
              <a:rPr lang="en-IN" sz="1400" dirty="0"/>
            </a:br>
            <a:r>
              <a:rPr lang="en-IN" sz="1400" dirty="0"/>
              <a:t>Combines precision and recall into a single measure.</a:t>
            </a:r>
          </a:p>
          <a:p>
            <a:r>
              <a:rPr lang="en-IN" sz="1400" b="1" dirty="0"/>
              <a:t>ROC-AUC</a:t>
            </a:r>
            <a:br>
              <a:rPr lang="en-IN" sz="1400" dirty="0"/>
            </a:br>
            <a:r>
              <a:rPr lang="en-IN" sz="1400" dirty="0"/>
              <a:t>Measures the model's ability to distinguish between classes where applicable.</a:t>
            </a:r>
          </a:p>
          <a:p>
            <a:r>
              <a:rPr lang="en-IN" sz="1400" b="1" dirty="0"/>
              <a:t>Confusion Matrix</a:t>
            </a:r>
            <a:br>
              <a:rPr lang="en-IN" sz="1400" dirty="0"/>
            </a:br>
            <a:r>
              <a:rPr lang="en-IN" sz="1400" dirty="0"/>
              <a:t>Shows the relationship between actual and predicted risk categories.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35110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2D516-A667-71DD-C8B3-4448D2CB3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IMPLEMENTATION &amp; RESULTS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E0C40C-C978-5D56-441F-B110A236E3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593" y="1185706"/>
            <a:ext cx="10651253" cy="5397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3659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3C098F-63FA-4C65-61E9-949512A330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077" y="713433"/>
            <a:ext cx="9445450" cy="5767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4375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818</TotalTime>
  <Words>1479</Words>
  <Application>Microsoft Office PowerPoint</Application>
  <PresentationFormat>Widescreen</PresentationFormat>
  <Paragraphs>214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Arial</vt:lpstr>
      <vt:lpstr>Calibri</vt:lpstr>
      <vt:lpstr>Calisto MT</vt:lpstr>
      <vt:lpstr>Times New Roman</vt:lpstr>
      <vt:lpstr>Office Theme</vt:lpstr>
      <vt:lpstr>       APPLIED MACHINE LEARNING FOR TEXT ANALYSIS (24ALT3101)  Machine Learning Framework for Urban Traffic Accident Risk Prediction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                   SYSTEM DESIGN</vt:lpstr>
      <vt:lpstr>             PERFORMANCE EVALUATION </vt:lpstr>
      <vt:lpstr>             IMPLEMENTATION &amp; RESULTS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Vinusha 2420030212</cp:lastModifiedBy>
  <cp:revision>32</cp:revision>
  <dcterms:created xsi:type="dcterms:W3CDTF">2024-08-29T05:25:00Z</dcterms:created>
  <dcterms:modified xsi:type="dcterms:W3CDTF">2026-09-25T11:44:10Z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