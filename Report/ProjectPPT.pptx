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73" r:id="rId5"/>
    <p:sldId id="258" r:id="rId6"/>
    <p:sldId id="276" r:id="rId7"/>
    <p:sldId id="275" r:id="rId8"/>
    <p:sldId id="261" r:id="rId9"/>
    <p:sldId id="265" r:id="rId10"/>
    <p:sldId id="260" r:id="rId11"/>
    <p:sldId id="272" r:id="rId12"/>
    <p:sldId id="274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76"/>
            <p14:sldId id="275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714" y="1554481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TEXT ANALYSIS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24ALT3101)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chemeClr val="accent1"/>
                </a:solidFill>
                <a:latin typeface="Calisto MT" panose="02040603050505030304" pitchFamily="18" charset="0"/>
              </a:rPr>
              <a:t>Machine Learning Framework for Urban Traffic Accident Risk Prediction</a:t>
            </a:r>
            <a:br>
              <a:rPr lang="en-IN" sz="3200" b="1" dirty="0">
                <a:solidFill>
                  <a:schemeClr val="accent1"/>
                </a:solidFill>
                <a:latin typeface="Calisto MT" panose="02040603050505030304" pitchFamily="18" charset="0"/>
              </a:rPr>
            </a:br>
            <a:endParaRPr lang="en-US" sz="3000" b="1" dirty="0">
              <a:solidFill>
                <a:schemeClr val="accent1"/>
              </a:solidFill>
              <a:latin typeface="Calisto MT" panose="02040603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9" y="3729916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Anjali Kasarla  -  2420030170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Vinusha Muppala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2420030212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Lasya Geethika  -  2420030678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KATANGURI SWANTHANA (CSE)</a:t>
            </a: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634D0-872B-2BC6-401F-C0B371F42EFC}"/>
              </a:ext>
            </a:extLst>
          </p:cNvPr>
          <p:cNvSpPr txBox="1"/>
          <p:nvPr/>
        </p:nvSpPr>
        <p:spPr>
          <a:xfrm>
            <a:off x="1107440" y="1304875"/>
            <a:ext cx="9408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Machine Learning Framework for Urban Traffic Accident Risk Prediction</a:t>
            </a:r>
          </a:p>
          <a:p>
            <a:pPr>
              <a:buNone/>
            </a:pP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A6F52-13AC-3A55-828E-A1F3FAA1ECE3}"/>
              </a:ext>
            </a:extLst>
          </p:cNvPr>
          <p:cNvSpPr txBox="1"/>
          <p:nvPr/>
        </p:nvSpPr>
        <p:spPr>
          <a:xfrm>
            <a:off x="833120" y="1981983"/>
            <a:ext cx="9479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Urban traffic accidents are caused by various factors such as </a:t>
            </a:r>
            <a:r>
              <a:rPr lang="en-IN" sz="2000" b="1" dirty="0"/>
              <a:t>weather, road conditions, traffic density, time, and driver-related causes</a:t>
            </a:r>
            <a:r>
              <a:rPr lang="en-IN" sz="2000" dirty="0"/>
              <a:t>. Traditional systems mainly respond after accidents occur and have limited ability to predict accident risk in advance.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proposed system uses </a:t>
            </a:r>
            <a:r>
              <a:rPr lang="en-IN" sz="2000" b="1" dirty="0"/>
              <a:t>historical accident data and machine learning algorithms</a:t>
            </a:r>
            <a:r>
              <a:rPr lang="en-IN" sz="2000" dirty="0"/>
              <a:t> such as Logistic Regression, Decision Tree, and Random Forest to identify accident patterns and classify situations as </a:t>
            </a:r>
            <a:r>
              <a:rPr lang="en-IN" sz="2000" b="1" dirty="0"/>
              <a:t>Low, Medium, or High Risk</a:t>
            </a:r>
            <a:r>
              <a:rPr lang="en-IN" sz="2000" dirty="0"/>
              <a:t>. NLP is used to </a:t>
            </a:r>
            <a:r>
              <a:rPr lang="en-IN" sz="2000" dirty="0" err="1"/>
              <a:t>analyze</a:t>
            </a:r>
            <a:r>
              <a:rPr lang="en-IN" sz="2000" dirty="0"/>
              <a:t> accident descriptions, while </a:t>
            </a:r>
            <a:r>
              <a:rPr lang="en-IN" sz="2000" b="1" dirty="0"/>
              <a:t>SHAP/LIME</a:t>
            </a:r>
            <a:r>
              <a:rPr lang="en-IN" sz="2000" dirty="0"/>
              <a:t> explains the reasons behind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model is evaluated using </a:t>
            </a:r>
            <a:r>
              <a:rPr lang="en-IN" sz="2000" b="1" dirty="0"/>
              <a:t>Accuracy, Precision, Recall, F1-score, ROC-AUC, and Confusion Matrix</a:t>
            </a:r>
            <a:r>
              <a:rPr lang="en-IN" sz="2000" dirty="0"/>
              <a:t> and deployed through a </a:t>
            </a:r>
            <a:r>
              <a:rPr lang="en-IN" sz="2000" b="1" dirty="0"/>
              <a:t>web dashboard</a:t>
            </a:r>
            <a:r>
              <a:rPr lang="en-IN" sz="2000" dirty="0"/>
              <a:t> to support proactive traffic safety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1036320" y="879822"/>
            <a:ext cx="9916160" cy="5052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 </a:t>
            </a:r>
            <a:r>
              <a:rPr lang="en-IN" sz="2000" b="1" dirty="0"/>
              <a:t>Machine Learning framework</a:t>
            </a:r>
            <a:r>
              <a:rPr lang="en-IN" sz="2000" dirty="0"/>
              <a:t> for predicting urban traffic accident risk.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collect and preprocess </a:t>
            </a:r>
            <a:r>
              <a:rPr lang="en-IN" sz="2000" b="1" dirty="0"/>
              <a:t>traffic accident, weather, road, and traffic-related data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identify the major </a:t>
            </a:r>
            <a:r>
              <a:rPr lang="en-IN" sz="2000" b="1" dirty="0"/>
              <a:t>factors contributing to traffic accidents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apply machine learning algorithms such as </a:t>
            </a:r>
            <a:r>
              <a:rPr lang="en-IN" sz="2000" b="1" dirty="0"/>
              <a:t>Logistic Regression, Decision Tree, Random Forest, SVM </a:t>
            </a:r>
            <a:r>
              <a:rPr lang="en-IN" sz="2000" dirty="0"/>
              <a:t>for risk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classify accident situations into </a:t>
            </a:r>
            <a:r>
              <a:rPr lang="en-IN" sz="2000" b="1" dirty="0"/>
              <a:t>Low, Medium, and High Risk</a:t>
            </a:r>
            <a:r>
              <a:rPr lang="en-IN" sz="2000" dirty="0"/>
              <a:t>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evaluate and compare model performance using </a:t>
            </a:r>
            <a:r>
              <a:rPr lang="en-IN" sz="2000" b="1" dirty="0"/>
              <a:t>Accuracy, Precision, Recall, F1-Score, ROC-AUC, and Confusion Matrix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use </a:t>
            </a:r>
            <a:r>
              <a:rPr lang="en-IN" sz="2000" b="1" dirty="0"/>
              <a:t>Explainable AI techniques such as SHAP/LIME</a:t>
            </a:r>
            <a:r>
              <a:rPr lang="en-IN" sz="2000" dirty="0"/>
              <a:t> to understand the factors influencing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 </a:t>
            </a:r>
            <a:r>
              <a:rPr lang="en-IN" sz="2000" b="1" dirty="0"/>
              <a:t>web-based dashboard</a:t>
            </a:r>
            <a:r>
              <a:rPr lang="en-IN" sz="2000" dirty="0"/>
              <a:t> for accident risk prediction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an intelligent system that can support </a:t>
            </a:r>
            <a:r>
              <a:rPr lang="en-IN" sz="2000" b="1" dirty="0"/>
              <a:t>proactive traffic safety and decision-making</a:t>
            </a:r>
            <a:r>
              <a:rPr lang="en-IN" sz="2000" dirty="0"/>
              <a:t>.</a:t>
            </a:r>
          </a:p>
          <a:p>
            <a:pPr lvl="0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03F3F8-3761-F9C5-E85A-8F6CE44F3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582727"/>
              </p:ext>
            </p:extLst>
          </p:nvPr>
        </p:nvGraphicFramePr>
        <p:xfrm>
          <a:off x="660934" y="1094868"/>
          <a:ext cx="10822005" cy="4971998"/>
        </p:xfrm>
        <a:graphic>
          <a:graphicData uri="http://schemas.openxmlformats.org/drawingml/2006/table">
            <a:tbl>
              <a:tblPr/>
              <a:tblGrid>
                <a:gridCol w="465222">
                  <a:extLst>
                    <a:ext uri="{9D8B030D-6E8A-4147-A177-3AD203B41FA5}">
                      <a16:colId xmlns:a16="http://schemas.microsoft.com/office/drawing/2014/main" val="3382050226"/>
                    </a:ext>
                  </a:extLst>
                </a:gridCol>
                <a:gridCol w="1751798">
                  <a:extLst>
                    <a:ext uri="{9D8B030D-6E8A-4147-A177-3AD203B41FA5}">
                      <a16:colId xmlns:a16="http://schemas.microsoft.com/office/drawing/2014/main" val="1510639356"/>
                    </a:ext>
                  </a:extLst>
                </a:gridCol>
                <a:gridCol w="1732547">
                  <a:extLst>
                    <a:ext uri="{9D8B030D-6E8A-4147-A177-3AD203B41FA5}">
                      <a16:colId xmlns:a16="http://schemas.microsoft.com/office/drawing/2014/main" val="1523445327"/>
                    </a:ext>
                  </a:extLst>
                </a:gridCol>
                <a:gridCol w="1857676">
                  <a:extLst>
                    <a:ext uri="{9D8B030D-6E8A-4147-A177-3AD203B41FA5}">
                      <a16:colId xmlns:a16="http://schemas.microsoft.com/office/drawing/2014/main" val="3951363308"/>
                    </a:ext>
                  </a:extLst>
                </a:gridCol>
                <a:gridCol w="2435191">
                  <a:extLst>
                    <a:ext uri="{9D8B030D-6E8A-4147-A177-3AD203B41FA5}">
                      <a16:colId xmlns:a16="http://schemas.microsoft.com/office/drawing/2014/main" val="4114807455"/>
                    </a:ext>
                  </a:extLst>
                </a:gridCol>
                <a:gridCol w="2579571">
                  <a:extLst>
                    <a:ext uri="{9D8B030D-6E8A-4147-A177-3AD203B41FA5}">
                      <a16:colId xmlns:a16="http://schemas.microsoft.com/office/drawing/2014/main" val="2323952638"/>
                    </a:ext>
                  </a:extLst>
                </a:gridCol>
              </a:tblGrid>
              <a:tr h="599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No.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Research Paper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Model/Algorithm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Dataset Used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Pros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1" dirty="0"/>
                        <a:t>Cons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667323"/>
                  </a:ext>
                </a:extLst>
              </a:tr>
              <a:tr h="472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1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Citywide Short-Term Crash Risk Prediction – Bao et al. (2019)</a:t>
                      </a:r>
                      <a:endParaRPr lang="en-IN" sz="1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STCL-Net, CNN, LSTM, ConvLSTM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NYC crash + taxi + road + weather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</a:t>
                      </a:r>
                      <a:r>
                        <a:rPr lang="en-IN" sz="1400" b="1"/>
                        <a:t>multiple data sources</a:t>
                      </a:r>
                      <a:r>
                        <a:rPr lang="en-IN" sz="1400"/>
                        <a:t>; captures spatial and temporal patterns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Tested mainly in </a:t>
                      </a:r>
                      <a:r>
                        <a:rPr lang="en-IN" sz="1400" b="1"/>
                        <a:t>one city</a:t>
                      </a:r>
                      <a:r>
                        <a:rPr lang="en-IN" sz="1400"/>
                        <a:t>; performance decreases at finer resolutions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789742"/>
                  </a:ext>
                </a:extLst>
              </a:tr>
              <a:tr h="560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2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Real-Time Crash Risk Prediction using LSTM-RNN – Yuan et al. (2019)</a:t>
                      </a:r>
                      <a:endParaRPr lang="en-IN" sz="1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LSTM-RNN, SMOTE, Conditional Logistic Model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Traffic detector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Good for </a:t>
                      </a:r>
                      <a:r>
                        <a:rPr lang="en-IN" sz="1400" b="1"/>
                        <a:t>real-time prediction</a:t>
                      </a:r>
                      <a:r>
                        <a:rPr lang="en-IN" sz="1400"/>
                        <a:t>; handles imbalanced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</a:t>
                      </a:r>
                      <a:r>
                        <a:rPr lang="en-IN" sz="1400" b="1"/>
                        <a:t>traffic detector infrastructure</a:t>
                      </a:r>
                      <a:r>
                        <a:rPr lang="en-IN" sz="1400"/>
                        <a:t>; limited explainability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36062"/>
                  </a:ext>
                </a:extLst>
              </a:tr>
              <a:tr h="47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3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ML and DL Methods for Real-Time Crash Prediction – Theofilatos et al. (2019)</a:t>
                      </a:r>
                      <a:endParaRPr lang="en-IN" sz="1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KNN, NB, DT, RF, SVM, NN, DL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Greece traffic + weather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Compares many ML/DL models</a:t>
                      </a:r>
                      <a:endParaRPr lang="en-IN" sz="1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Dataset limited to </a:t>
                      </a:r>
                      <a:r>
                        <a:rPr lang="en-IN" sz="1400" b="1"/>
                        <a:t>one tollway</a:t>
                      </a:r>
                      <a:r>
                        <a:rPr lang="en-IN" sz="1400"/>
                        <a:t>; crash prediction remains difficult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509604"/>
                  </a:ext>
                </a:extLst>
              </a:tr>
              <a:tr h="47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4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Real-Time Crash Prediction in Urban Expressway – Basso et al. (2018)</a:t>
                      </a:r>
                      <a:endParaRPr lang="en-IN" sz="1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RF, SVM, Logistic Regression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Chile AVI traffic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</a:t>
                      </a:r>
                      <a:r>
                        <a:rPr lang="en-IN" sz="1400" b="1"/>
                        <a:t>RF, SVM and LR</a:t>
                      </a:r>
                      <a:r>
                        <a:rPr lang="en-IN" sz="1400"/>
                        <a:t>; suitable for real-time prediction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</a:t>
                      </a:r>
                      <a:r>
                        <a:rPr lang="en-IN" sz="1400" b="1"/>
                        <a:t>specialized AVI infrastructure</a:t>
                      </a:r>
                      <a:r>
                        <a:rPr lang="en-IN" sz="1400"/>
                        <a:t>; high false alarms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91627"/>
                  </a:ext>
                </a:extLst>
              </a:tr>
              <a:tr h="553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5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Highway Crash Detection and Risk Estimation – Huang et al. (2020)</a:t>
                      </a:r>
                      <a:endParaRPr lang="en-IN" sz="1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Deep Learning, SVM, Shallow ML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Iowa speed + volume + occupancy + crashes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Uses detailed </a:t>
                      </a:r>
                      <a:r>
                        <a:rPr lang="en-IN" sz="1400" b="1" dirty="0"/>
                        <a:t>traffic conditions</a:t>
                      </a:r>
                      <a:r>
                        <a:rPr lang="en-IN" sz="1400" dirty="0"/>
                        <a:t> for risk estimation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Requires </a:t>
                      </a:r>
                      <a:r>
                        <a:rPr lang="en-IN" sz="1400" b="1" dirty="0"/>
                        <a:t>roadside radar sensors</a:t>
                      </a:r>
                      <a:r>
                        <a:rPr lang="en-IN" sz="1400" dirty="0"/>
                        <a:t>; prediction becomes harder farther before crashes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6055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FD352D-E9D4-4FC4-EC26-473361EA6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00648"/>
              </p:ext>
            </p:extLst>
          </p:nvPr>
        </p:nvGraphicFramePr>
        <p:xfrm>
          <a:off x="955575" y="1003428"/>
          <a:ext cx="10078186" cy="4851144"/>
        </p:xfrm>
        <a:graphic>
          <a:graphicData uri="http://schemas.openxmlformats.org/drawingml/2006/table">
            <a:tbl>
              <a:tblPr/>
              <a:tblGrid>
                <a:gridCol w="94676">
                  <a:extLst>
                    <a:ext uri="{9D8B030D-6E8A-4147-A177-3AD203B41FA5}">
                      <a16:colId xmlns:a16="http://schemas.microsoft.com/office/drawing/2014/main" val="4204067424"/>
                    </a:ext>
                  </a:extLst>
                </a:gridCol>
                <a:gridCol w="2574371">
                  <a:extLst>
                    <a:ext uri="{9D8B030D-6E8A-4147-A177-3AD203B41FA5}">
                      <a16:colId xmlns:a16="http://schemas.microsoft.com/office/drawing/2014/main" val="545620053"/>
                    </a:ext>
                  </a:extLst>
                </a:gridCol>
                <a:gridCol w="1306703">
                  <a:extLst>
                    <a:ext uri="{9D8B030D-6E8A-4147-A177-3AD203B41FA5}">
                      <a16:colId xmlns:a16="http://schemas.microsoft.com/office/drawing/2014/main" val="1071015052"/>
                    </a:ext>
                  </a:extLst>
                </a:gridCol>
                <a:gridCol w="1185463">
                  <a:extLst>
                    <a:ext uri="{9D8B030D-6E8A-4147-A177-3AD203B41FA5}">
                      <a16:colId xmlns:a16="http://schemas.microsoft.com/office/drawing/2014/main" val="3270369496"/>
                    </a:ext>
                  </a:extLst>
                </a:gridCol>
                <a:gridCol w="2263155">
                  <a:extLst>
                    <a:ext uri="{9D8B030D-6E8A-4147-A177-3AD203B41FA5}">
                      <a16:colId xmlns:a16="http://schemas.microsoft.com/office/drawing/2014/main" val="4005191563"/>
                    </a:ext>
                  </a:extLst>
                </a:gridCol>
                <a:gridCol w="2653818">
                  <a:extLst>
                    <a:ext uri="{9D8B030D-6E8A-4147-A177-3AD203B41FA5}">
                      <a16:colId xmlns:a16="http://schemas.microsoft.com/office/drawing/2014/main" val="1223876851"/>
                    </a:ext>
                  </a:extLst>
                </a:gridCol>
              </a:tblGrid>
              <a:tr h="14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No.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Research Paper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Model / Algorithm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Dataset Used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Pros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Cons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72901"/>
                  </a:ext>
                </a:extLst>
              </a:tr>
              <a:tr h="401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 dirty="0"/>
                        <a:t>6</a:t>
                      </a:r>
                      <a:endParaRPr lang="en-IN" sz="4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Freeway Crash Risk Prediction using Probe Vehicle Data – Zhang et al. (2022)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RF, SVM, XGBoost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HERE probe-vehicle + crash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</a:t>
                      </a:r>
                      <a:r>
                        <a:rPr lang="en-IN" sz="1600" b="1"/>
                        <a:t>crowdsourced vehicle data</a:t>
                      </a:r>
                      <a:r>
                        <a:rPr lang="en-IN" sz="1600"/>
                        <a:t>; useful for real-time prediction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Probe vehicles may not represent all vehicles; limited traffic variables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645118"/>
                  </a:ext>
                </a:extLst>
              </a:tr>
              <a:tr h="401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7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Motorway Segment Crash Risk Level Prediction – Nikolaou et al. (2023)</a:t>
                      </a:r>
                      <a:endParaRPr lang="en-IN" sz="1600" dirty="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LR, DT, RF, SVM, KNN, SHAP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Greece motorway data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Risk-level prediction + SHAP explainability</a:t>
                      </a:r>
                      <a:r>
                        <a:rPr lang="en-IN" sz="1600"/>
                        <a:t>; compares models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to </a:t>
                      </a:r>
                      <a:r>
                        <a:rPr lang="en-IN" sz="1600" b="1"/>
                        <a:t>one motorway</a:t>
                      </a:r>
                      <a:r>
                        <a:rPr lang="en-IN" sz="1600"/>
                        <a:t>; limited real-time weather/traffic information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340760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8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Traffic Accident Severity Prediction Based on Random Forest – Yan &amp; Shen (2022)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RF, Bayesian Optimization, PDP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US-Accidents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Large and widely used accident dataset; strong </a:t>
                      </a:r>
                      <a:r>
                        <a:rPr lang="en-IN" sz="1600" b="1"/>
                        <a:t>RF classification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Predicts </a:t>
                      </a:r>
                      <a:r>
                        <a:rPr lang="en-IN" sz="1600" b="1"/>
                        <a:t>severity rather than future risk</a:t>
                      </a:r>
                      <a:r>
                        <a:rPr lang="en-IN" sz="1600"/>
                        <a:t>; limited geographical scope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987455"/>
                  </a:ext>
                </a:extLst>
              </a:tr>
              <a:tr h="528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9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Enhanced MSCPO-XGBoost Accident Severity Prediction – Chen et al. (2025)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XGBoost, SVM, RF, CNN, SHAP, SMOTE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China NAIS, 2018–2023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Combines </a:t>
                      </a:r>
                      <a:r>
                        <a:rPr lang="en-IN" sz="1600" b="1"/>
                        <a:t>ML + SHAP + SMOTE</a:t>
                      </a:r>
                      <a:r>
                        <a:rPr lang="en-IN" sz="1600"/>
                        <a:t>; handles imbalance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Relatively small dataset; China-specific; focuses mainly on severity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524785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" b="1"/>
                        <a:t>10</a:t>
                      </a:r>
                      <a:endParaRPr lang="en-IN" sz="4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Calibrated &amp; Explainable Gradient Boosting – Alhawarat et al. (2026)</a:t>
                      </a:r>
                      <a:endParaRPr lang="en-IN" sz="1600"/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XGBoost, LightGBM, SHAP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US-Accidents + UK STATS19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Large datasets + explainability + calibration</a:t>
                      </a:r>
                      <a:r>
                        <a:rPr lang="en-IN" sz="1600" dirty="0"/>
                        <a:t>; strong recent approach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Severity definition differs between datasets; transfer to new regions may be difficult</a:t>
                      </a:r>
                    </a:p>
                  </a:txBody>
                  <a:tcPr marL="21123" marR="21123" marT="10562" marB="105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126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37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2BDB4-7BE4-7C81-5B4E-3A52ADEE034C}"/>
              </a:ext>
            </a:extLst>
          </p:cNvPr>
          <p:cNvSpPr txBox="1"/>
          <p:nvPr/>
        </p:nvSpPr>
        <p:spPr>
          <a:xfrm>
            <a:off x="3495040" y="2674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highlight>
                  <a:srgbClr val="800000"/>
                </a:highlight>
              </a:rPr>
              <a:t> Real-World Applications &amp; Existing Systems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04233F-945D-6807-091A-E5103719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0209"/>
              </p:ext>
            </p:extLst>
          </p:nvPr>
        </p:nvGraphicFramePr>
        <p:xfrm>
          <a:off x="838200" y="1293654"/>
          <a:ext cx="10515600" cy="4114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885851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87704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61160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Existing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2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Google Maps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navigation, traffic updates, and estimated arrival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Focuses on fastest route, not accident risk. Does not explain safety level.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7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Waze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accidents and incidents reported by users.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user reports. Cannot predict future accident risk.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751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Road Accident Prediction Models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 accident occurrence using historical datasets.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Mostly rely on historical data; limited contextual information.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3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Accident Severity Prediction Systems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 how severe an accident will be.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Useful mainly after an accident has occurred.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814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CCTV-Based Accident Detection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Detects accidents using cameras and deep learning.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expensive camera infrastructure and detects accidents after they occur.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19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50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B384009-D757-C11E-2E72-A2A748D80015}"/>
              </a:ext>
            </a:extLst>
          </p:cNvPr>
          <p:cNvSpPr/>
          <p:nvPr/>
        </p:nvSpPr>
        <p:spPr>
          <a:xfrm>
            <a:off x="169164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</a:t>
            </a:r>
            <a:endParaRPr lang="en-US" sz="1500" dirty="0"/>
          </a:p>
        </p:txBody>
      </p:sp>
      <p:pic>
        <p:nvPicPr>
          <p:cNvPr id="20" name="Image 1" descr="/home/claude/deck/icons/smile_white.png">
            <a:extLst>
              <a:ext uri="{FF2B5EF4-FFF2-40B4-BE49-F238E27FC236}">
                <a16:creationId xmlns:a16="http://schemas.microsoft.com/office/drawing/2014/main" id="{5F4B1C93-75F5-0EF1-C3F5-B907D1B0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20764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Evaluation</a:t>
            </a:r>
            <a:endParaRPr lang="en-US" sz="1500" dirty="0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2255603-B102-9889-0C74-A8C9531E37DC}"/>
              </a:ext>
            </a:extLst>
          </p:cNvPr>
          <p:cNvSpPr/>
          <p:nvPr/>
        </p:nvSpPr>
        <p:spPr>
          <a:xfrm>
            <a:off x="86868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pic>
        <p:nvPicPr>
          <p:cNvPr id="40" name="Image 3" descr="/home/claude/deck/icons/layers_white.png">
            <a:extLst>
              <a:ext uri="{FF2B5EF4-FFF2-40B4-BE49-F238E27FC236}">
                <a16:creationId xmlns:a16="http://schemas.microsoft.com/office/drawing/2014/main" id="{44A0D415-7294-2CDE-14DA-E00EACE96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528" y="4261104"/>
            <a:ext cx="329184" cy="32918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186BA-DC87-5600-3FC6-A5C5EB2FDF56}"/>
              </a:ext>
            </a:extLst>
          </p:cNvPr>
          <p:cNvSpPr txBox="1"/>
          <p:nvPr/>
        </p:nvSpPr>
        <p:spPr>
          <a:xfrm>
            <a:off x="508000" y="1102141"/>
            <a:ext cx="108762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Fragmented Accident Prediction Approaches</a:t>
            </a:r>
          </a:p>
          <a:p>
            <a:pPr>
              <a:buNone/>
            </a:pPr>
            <a:r>
              <a:rPr lang="en-IN" dirty="0"/>
              <a:t>Existing studies often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weather, road conditions, traffic, and accident factors separately</a:t>
            </a:r>
            <a:r>
              <a:rPr lang="en-IN" dirty="0"/>
              <a:t>, rather than combining them into one unified prediction framework.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2. Limited Use of Textual Accident Information</a:t>
            </a:r>
          </a:p>
          <a:p>
            <a:pPr>
              <a:buNone/>
            </a:pPr>
            <a:r>
              <a:rPr lang="en-IN" dirty="0"/>
              <a:t>Most accident prediction models primarily use </a:t>
            </a:r>
            <a:r>
              <a:rPr lang="en-IN" b="1" dirty="0"/>
              <a:t>structured/tabular data</a:t>
            </a:r>
            <a:r>
              <a:rPr lang="en-IN" dirty="0"/>
              <a:t>, with limited use of accident descriptions and other textual information for risk prediction.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3. Limited Explainability</a:t>
            </a:r>
          </a:p>
          <a:p>
            <a:pPr>
              <a:buNone/>
            </a:pPr>
            <a:r>
              <a:rPr lang="en-IN" dirty="0"/>
              <a:t>Many machine learning models provide an accident-risk prediction but do not clearly explain </a:t>
            </a:r>
            <a:r>
              <a:rPr lang="en-IN" b="1" dirty="0"/>
              <a:t>which factors contributed to the prediction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4. Lack of Integrated Risk Classification</a:t>
            </a:r>
          </a:p>
          <a:p>
            <a:pPr>
              <a:buNone/>
            </a:pPr>
            <a:r>
              <a:rPr lang="en-IN" dirty="0"/>
              <a:t>Existing approaches often focus on </a:t>
            </a:r>
            <a:r>
              <a:rPr lang="en-IN" b="1" dirty="0"/>
              <a:t>accident occurrence or severity</a:t>
            </a:r>
            <a:r>
              <a:rPr lang="en-IN" dirty="0"/>
              <a:t>, while fewer systems provide an integrated </a:t>
            </a:r>
            <a:r>
              <a:rPr lang="en-IN" b="1" dirty="0"/>
              <a:t>Low, Medium, and High risk classification</a:t>
            </a:r>
            <a:r>
              <a:rPr lang="en-IN" dirty="0"/>
              <a:t> for proactive traffic safety.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5. Limited Real-Time Decision Support</a:t>
            </a:r>
          </a:p>
          <a:p>
            <a:pPr>
              <a:buNone/>
            </a:pPr>
            <a:r>
              <a:rPr lang="en-IN" dirty="0"/>
              <a:t>Many models are evaluated offline and are not integrated into an accessible </a:t>
            </a:r>
            <a:r>
              <a:rPr lang="en-IN" b="1" dirty="0"/>
              <a:t>web-based dashboard</a:t>
            </a:r>
            <a:r>
              <a:rPr lang="en-IN" dirty="0"/>
              <a:t> for practical traffic-risk monitoring and decision-making.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A03EB-095A-6545-F95D-DC53AC3E3608}"/>
              </a:ext>
            </a:extLst>
          </p:cNvPr>
          <p:cNvSpPr txBox="1"/>
          <p:nvPr/>
        </p:nvSpPr>
        <p:spPr>
          <a:xfrm>
            <a:off x="914398" y="1004016"/>
            <a:ext cx="109829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 &amp; CREATIVITY</a:t>
            </a:r>
          </a:p>
          <a:p>
            <a:pPr>
              <a:buNone/>
            </a:pPr>
            <a:r>
              <a:rPr lang="en-IN" b="1" dirty="0"/>
              <a:t>01 — Unified Accident Risk Framework</a:t>
            </a:r>
          </a:p>
          <a:p>
            <a:pPr>
              <a:buNone/>
            </a:pPr>
            <a:r>
              <a:rPr lang="en-IN" dirty="0"/>
              <a:t>Combines </a:t>
            </a:r>
            <a:r>
              <a:rPr lang="en-IN" b="1" dirty="0"/>
              <a:t>traffic, weather, road, and accident-related factors</a:t>
            </a:r>
            <a:r>
              <a:rPr lang="en-IN" dirty="0"/>
              <a:t> into a single prediction system.</a:t>
            </a:r>
            <a:br>
              <a:rPr lang="en-IN" dirty="0"/>
            </a:br>
            <a:r>
              <a:rPr lang="en-IN" dirty="0"/>
              <a:t>Provides an integrated approach to urban accident-risk assessment.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02 — NLP-Based Accident Analysis</a:t>
            </a:r>
          </a:p>
          <a:p>
            <a:pPr>
              <a:buNone/>
            </a:pPr>
            <a:r>
              <a:rPr lang="en-IN" dirty="0"/>
              <a:t>Uses </a:t>
            </a:r>
            <a:r>
              <a:rPr lang="en-IN" b="1" dirty="0"/>
              <a:t>text preprocessing and feature extraction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accident-related textual information.</a:t>
            </a:r>
            <a:br>
              <a:rPr lang="en-IN" dirty="0"/>
            </a:br>
            <a:r>
              <a:rPr lang="en-IN" dirty="0"/>
              <a:t>Goes beyond simple structured-data analysis.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03 — Explainable Risk Prediction</a:t>
            </a:r>
          </a:p>
          <a:p>
            <a:pPr>
              <a:buNone/>
            </a:pPr>
            <a:r>
              <a:rPr lang="en-IN" dirty="0"/>
              <a:t>Uses </a:t>
            </a:r>
            <a:r>
              <a:rPr lang="en-IN" b="1" dirty="0"/>
              <a:t>SHAP/LIME</a:t>
            </a:r>
            <a:r>
              <a:rPr lang="en-IN" dirty="0"/>
              <a:t> to identify the factors that influence accident-risk predictions.</a:t>
            </a:r>
            <a:br>
              <a:rPr lang="en-IN" dirty="0"/>
            </a:br>
            <a:r>
              <a:rPr lang="en-IN" dirty="0"/>
              <a:t>Makes the ML model more </a:t>
            </a:r>
            <a:r>
              <a:rPr lang="en-IN" b="1" dirty="0"/>
              <a:t>transparent and understandable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04 — Interactive Risk Dashboard</a:t>
            </a:r>
          </a:p>
          <a:p>
            <a:pPr>
              <a:buNone/>
            </a:pPr>
            <a:r>
              <a:rPr lang="en-IN" dirty="0"/>
              <a:t>Provides </a:t>
            </a:r>
            <a:r>
              <a:rPr lang="en-IN" b="1" dirty="0"/>
              <a:t>Low, Medium, and High risk predictions</a:t>
            </a:r>
            <a:r>
              <a:rPr lang="en-IN" dirty="0"/>
              <a:t> through a web-based interface.</a:t>
            </a:r>
            <a:br>
              <a:rPr lang="en-IN" dirty="0"/>
            </a:br>
            <a:r>
              <a:rPr lang="en-IN" dirty="0"/>
              <a:t>Supports traffic monitoring, visualization, and </a:t>
            </a:r>
            <a:r>
              <a:rPr lang="en-IN" b="1" dirty="0"/>
              <a:t>proactive decision-making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Idea:</a:t>
            </a:r>
          </a:p>
          <a:p>
            <a:pPr>
              <a:buNone/>
            </a:pPr>
            <a:r>
              <a:rPr lang="en-IN" b="1" dirty="0"/>
              <a:t>AI does not only predict traffic accident risk — it explains the reasons behind the prediction and supports safer traffic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60351-3015-2683-070A-A69C92713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78" b="4889"/>
          <a:stretch>
            <a:fillRect/>
          </a:stretch>
        </p:blipFill>
        <p:spPr>
          <a:xfrm>
            <a:off x="735724" y="995680"/>
            <a:ext cx="10720552" cy="5527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4DADC-661E-A2F8-6986-F854B63B5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21" b="22772"/>
          <a:stretch>
            <a:fillRect/>
          </a:stretch>
        </p:blipFill>
        <p:spPr>
          <a:xfrm>
            <a:off x="544204" y="948490"/>
            <a:ext cx="11103590" cy="5093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D8514E-167C-D17D-7D78-5CAD192DB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815"/>
          <a:stretch>
            <a:fillRect/>
          </a:stretch>
        </p:blipFill>
        <p:spPr>
          <a:xfrm>
            <a:off x="952500" y="6096000"/>
            <a:ext cx="102870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563499" y="92996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578608" y="951772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D716DE3-680B-EBA2-67B7-D90DAC79202C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85954B5-DA3A-5752-A408-A68FD4380B8C}"/>
              </a:ext>
            </a:extLst>
          </p:cNvPr>
          <p:cNvSpPr/>
          <p:nvPr/>
        </p:nvSpPr>
        <p:spPr>
          <a:xfrm>
            <a:off x="731520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Parsing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 Processing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Cleaning</a:t>
            </a:r>
            <a:endParaRPr lang="en-US" sz="1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3AE7819B-D0DE-7B88-47C8-C6EE82EF9989}"/>
              </a:ext>
            </a:extLst>
          </p:cNvPr>
          <p:cNvSpPr/>
          <p:nvPr/>
        </p:nvSpPr>
        <p:spPr>
          <a:xfrm>
            <a:off x="3410712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B72594C-A96E-502E-B57A-9F9912056096}"/>
              </a:ext>
            </a:extLst>
          </p:cNvPr>
          <p:cNvSpPr/>
          <p:nvPr/>
        </p:nvSpPr>
        <p:spPr>
          <a:xfrm>
            <a:off x="3502152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Emotion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EBD2E4E7-0FEE-2524-CE48-F6CAE4B11D86}"/>
              </a:ext>
            </a:extLst>
          </p:cNvPr>
          <p:cNvSpPr/>
          <p:nvPr/>
        </p:nvSpPr>
        <p:spPr>
          <a:xfrm>
            <a:off x="6272784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ADC17-C49D-7204-E31B-2F18F3E2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4" t="11754" r="2810"/>
          <a:stretch>
            <a:fillRect/>
          </a:stretch>
        </p:blipFill>
        <p:spPr>
          <a:xfrm>
            <a:off x="730504" y="812800"/>
            <a:ext cx="10535920" cy="59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8B8CD-F822-B5D9-65D7-CA9B3005A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" y="0"/>
            <a:ext cx="12028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1395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Calisto MT</vt:lpstr>
      <vt:lpstr>Times New Roman</vt:lpstr>
      <vt:lpstr>Office Theme</vt:lpstr>
      <vt:lpstr>       APPLIED MACHINE LEARNING FOR TEXT ANALYSIS (24ALT3101)  Machine Learning Framework for Urban Traffic Accident Risk Prediction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Anjali Kasarla</cp:lastModifiedBy>
  <cp:revision>31</cp:revision>
  <dcterms:created xsi:type="dcterms:W3CDTF">2024-08-29T05:25:00Z</dcterms:created>
  <dcterms:modified xsi:type="dcterms:W3CDTF">2026-09-21T03:54:03Z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